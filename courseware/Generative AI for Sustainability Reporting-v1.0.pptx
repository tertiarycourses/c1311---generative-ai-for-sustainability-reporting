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Generative AI for Sustainability Reporting</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C1311</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28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TRAINERS LISTED ON THE C1311 COURSE PAGE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Course Trainer Profiles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4187952"/>
          </a:xfrm>
          <a:prstGeom prst="rect">
            <a:avLst/>
          </a:prstGeom>
          <a:noFill/>
        </p:spPr>
        <p:txBody>
          <a:bodyPr wrap="square" anchor="ctr">
            <a:spAutoFit/>
          </a:bodyPr>
          <a:lstStyle/>
          <a:p>
            <a:pPr algn="l">
              <a:spcAft>
                <a:spcPts val="300"/>
              </a:spcAft>
            </a:pPr>
            <a:r>
              <a:rPr sz="1700" b="1">
                <a:solidFill>
                  <a:srgbClr val="161B26"/>
                </a:solidFill>
                <a:latin typeface="Arial"/>
              </a:rPr>
              <a:t>Ng Herk Low</a:t>
            </a:r>
          </a:p>
          <a:p>
            <a:pPr algn="l">
              <a:spcAft>
                <a:spcPts val="300"/>
              </a:spcAft>
            </a:pPr>
            <a:r>
              <a:rPr sz="1300" b="0">
                <a:solidFill>
                  <a:srgbClr val="5B6372"/>
                </a:solidFill>
                <a:latin typeface="Arial"/>
              </a:rPr>
              <a:t>Sustainability professional and trainer with leadership experience in strategy, governance, social impact and stakeholder-focused sustainability reporting.</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4187952"/>
          </a:xfrm>
          <a:prstGeom prst="rect">
            <a:avLst/>
          </a:prstGeom>
          <a:noFill/>
        </p:spPr>
        <p:txBody>
          <a:bodyPr wrap="square" anchor="ctr">
            <a:spAutoFit/>
          </a:bodyPr>
          <a:lstStyle/>
          <a:p>
            <a:pPr algn="l">
              <a:spcAft>
                <a:spcPts val="300"/>
              </a:spcAft>
            </a:pPr>
            <a:r>
              <a:rPr sz="1700" b="1">
                <a:solidFill>
                  <a:srgbClr val="161B26"/>
                </a:solidFill>
                <a:latin typeface="Arial"/>
              </a:rPr>
              <a:t>Lynn Foo</a:t>
            </a:r>
          </a:p>
          <a:p>
            <a:pPr algn="l">
              <a:spcAft>
                <a:spcPts val="300"/>
              </a:spcAft>
            </a:pPr>
            <a:r>
              <a:rPr sz="1300" b="0">
                <a:solidFill>
                  <a:srgbClr val="5B6372"/>
                </a:solidFill>
                <a:latin typeface="Arial"/>
              </a:rPr>
              <a:t>Sustainability and ESG practitioner with experience in carbon measurement, reporting, environmental management, circular economy and organisational governance.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MATERIALS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Course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C1311 course page or the trainer-supplied Drive folder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courseware links for this course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Learner Guide and Lesson Plan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Activities folder for all 8 labs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 files together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1F6FEB"/>
                </a:solidFill>
                <a:latin typeface="Arial"/>
              </a:rPr>
              <a:t>Course page:  https://www.tertiarycourses.com.sg/generative-ai-for-sustainability-reporting.html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2 Days, 15 instructional hours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Ground the AI workflow and turn ESG evidence into trustworthy metrics</a:t>
            </a:r>
          </a:p>
          <a:p>
            <a:pPr>
              <a:spcAft>
                <a:spcPts val="1000"/>
              </a:spcAft>
            </a:pPr>
            <a:r>
              <a:rPr sz="1400" b="0">
                <a:solidFill>
                  <a:srgbClr val="5B6372"/>
                </a:solidFill>
                <a:latin typeface="Arial"/>
              </a:rPr>
              <a:t>–  Topic 1: Getting Started with Generative AI for Sustainability Reporting (Labs 1–2)</a:t>
            </a:r>
          </a:p>
          <a:p>
            <a:pPr>
              <a:spcAft>
                <a:spcPts val="1000"/>
              </a:spcAft>
            </a:pPr>
            <a:r>
              <a:rPr sz="1400" b="0">
                <a:solidFill>
                  <a:srgbClr val="5B6372"/>
                </a:solidFill>
                <a:latin typeface="Arial"/>
              </a:rPr>
              <a:t>–  Topic 2: AI for ESG Data Collection and Analysis (Labs 3–5)</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Turn verified evidence into framework-mapped, review-ready reporting</a:t>
            </a:r>
          </a:p>
          <a:p>
            <a:pPr>
              <a:spcAft>
                <a:spcPts val="1000"/>
              </a:spcAft>
            </a:pPr>
            <a:r>
              <a:rPr sz="1400" b="0">
                <a:solidFill>
                  <a:srgbClr val="5B6372"/>
                </a:solidFill>
                <a:latin typeface="Arial"/>
              </a:rPr>
              <a:t>–  Topic 3: AI for Drafting and Structuring Reports (Lab 6)</a:t>
            </a:r>
          </a:p>
          <a:p>
            <a:pPr>
              <a:spcAft>
                <a:spcPts val="1000"/>
              </a:spcAft>
            </a:pPr>
            <a:r>
              <a:rPr sz="1400" b="0">
                <a:solidFill>
                  <a:srgbClr val="5B6372"/>
                </a:solidFill>
                <a:latin typeface="Arial"/>
              </a:rPr>
              <a:t>–  Topic 4: AI for Compliance, Frameworks and Continuous Reporting (Labs 7–8)</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 – 6:30 pm (1-hour lunch; two 15-minute tea breaks; 7.5 instructional hours)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Ground &amp; Govern</a:t>
            </a:r>
          </a:p>
          <a:p>
            <a:pPr algn="l">
              <a:spcAft>
                <a:spcPts val="300"/>
              </a:spcAft>
            </a:pPr>
            <a:r>
              <a:rPr sz="1300" b="0">
                <a:solidFill>
                  <a:srgbClr val="5B6372"/>
                </a:solidFill>
                <a:latin typeface="Arial"/>
              </a:rPr>
              <a:t>Establish a responsible, evidence-controlled generative AI workflow and distinguish the purposes of GRI, SASB, TCFD and ISSB reporting guidance.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Structure &amp; Analyse</a:t>
            </a:r>
          </a:p>
          <a:p>
            <a:pPr algn="l">
              <a:spcAft>
                <a:spcPts val="300"/>
              </a:spcAft>
            </a:pPr>
            <a:r>
              <a:rPr sz="1300" b="0">
                <a:solidFill>
                  <a:srgbClr val="5B6372"/>
                </a:solidFill>
                <a:latin typeface="Arial"/>
              </a:rPr>
              <a:t>Structure ESG source data, calculate and interpret selected emissions and intensity metrics, and perform transparent materiality and gap analysis.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Draft &amp; Validate</a:t>
            </a:r>
          </a:p>
          <a:p>
            <a:pPr algn="l">
              <a:spcAft>
                <a:spcPts val="300"/>
              </a:spcAft>
            </a:pPr>
            <a:r>
              <a:rPr sz="1300" b="0">
                <a:solidFill>
                  <a:srgbClr val="5B6372"/>
                </a:solidFill>
                <a:latin typeface="Arial"/>
              </a:rPr>
              <a:t>Draft readable, evidence-grounded sustainability disclosures and executive summaries, then validate claims, consistency and limitations.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Map &amp; Operationalise</a:t>
            </a:r>
          </a:p>
          <a:p>
            <a:pPr algn="l">
              <a:spcAft>
                <a:spcPts val="300"/>
              </a:spcAft>
            </a:pPr>
            <a:r>
              <a:rPr sz="1300" b="0">
                <a:solidFill>
                  <a:srgbClr val="5B6372"/>
                </a:solidFill>
                <a:latin typeface="Arial"/>
              </a:rPr>
              <a:t>Map report content to applicable frameworks, maintain an assurance-ready audit trail, and design a governed recurring reporting workflow.</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Evidence-Controlled AI Reporting System</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Six Ideas That Keep Reporting Credible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Reporting basis</a:t>
            </a:r>
          </a:p>
          <a:p>
            <a:pPr algn="l">
              <a:spcAft>
                <a:spcPts val="300"/>
              </a:spcAft>
            </a:pPr>
            <a:r>
              <a:rPr sz="1300" b="0">
                <a:solidFill>
                  <a:srgbClr val="5B6372"/>
                </a:solidFill>
                <a:latin typeface="Arial"/>
              </a:rPr>
              <a:t>Audience, period, boundary, materiality lens, framework and applicability.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Evidence first</a:t>
            </a:r>
          </a:p>
          <a:p>
            <a:pPr algn="l">
              <a:spcAft>
                <a:spcPts val="300"/>
              </a:spcAft>
            </a:pPr>
            <a:r>
              <a:rPr sz="1300" b="0">
                <a:solidFill>
                  <a:srgbClr val="5B6372"/>
                </a:solidFill>
                <a:latin typeface="Arial"/>
              </a:rPr>
              <a:t>Stable source IDs, raw values, owners, status and immutable originals.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Transparent calculations</a:t>
            </a:r>
          </a:p>
          <a:p>
            <a:pPr algn="l">
              <a:spcAft>
                <a:spcPts val="300"/>
              </a:spcAft>
            </a:pPr>
            <a:r>
              <a:rPr sz="1300" b="0">
                <a:solidFill>
                  <a:srgbClr val="5B6372"/>
                </a:solidFill>
                <a:latin typeface="Arial"/>
              </a:rPr>
              <a:t>Activity data, factor, formula, conversion, result and reviewer.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Bounded AI tasks</a:t>
            </a:r>
          </a:p>
          <a:p>
            <a:pPr algn="l">
              <a:spcAft>
                <a:spcPts val="300"/>
              </a:spcAft>
            </a:pPr>
            <a:r>
              <a:rPr sz="1300" b="0">
                <a:solidFill>
                  <a:srgbClr val="5B6372"/>
                </a:solidFill>
                <a:latin typeface="Arial"/>
              </a:rPr>
              <a:t>Transform, compare, draft or critique supplied evidence—one controlled task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Human judgement</a:t>
            </a:r>
          </a:p>
          <a:p>
            <a:pPr algn="l">
              <a:spcAft>
                <a:spcPts val="300"/>
              </a:spcAft>
            </a:pPr>
            <a:r>
              <a:rPr sz="1300" b="0">
                <a:solidFill>
                  <a:srgbClr val="5B6372"/>
                </a:solidFill>
                <a:latin typeface="Arial"/>
              </a:rPr>
              <a:t>People decide materiality, applicability, estimates, balance and publication.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Reproducible lineage</a:t>
            </a:r>
          </a:p>
          <a:p>
            <a:pPr algn="l">
              <a:spcAft>
                <a:spcPts val="300"/>
              </a:spcAft>
            </a:pPr>
            <a:r>
              <a:rPr sz="1300" b="0">
                <a:solidFill>
                  <a:srgbClr val="5B6372"/>
                </a:solidFill>
                <a:latin typeface="Arial"/>
              </a:rPr>
              <a:t>Source → transformation → calculation → claim → review → approval.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Eight-Stage Reporting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Scope</a:t>
            </a:r>
          </a:p>
          <a:p>
            <a:pPr algn="l">
              <a:spcAft>
                <a:spcPts val="300"/>
              </a:spcAft>
            </a:pPr>
            <a:r>
              <a:rPr sz="1200" b="0">
                <a:solidFill>
                  <a:srgbClr val="5B6372"/>
                </a:solidFill>
                <a:latin typeface="Arial"/>
              </a:rPr>
              <a:t>Define reporting basis, boundary, audience and applicability.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Register</a:t>
            </a:r>
          </a:p>
          <a:p>
            <a:pPr algn="l">
              <a:spcAft>
                <a:spcPts val="300"/>
              </a:spcAft>
            </a:pPr>
            <a:r>
              <a:rPr sz="1200" b="0">
                <a:solidFill>
                  <a:srgbClr val="5B6372"/>
                </a:solidFill>
                <a:latin typeface="Arial"/>
              </a:rPr>
              <a:t>Inventory sources, owners, periods, units and evidence status.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Structure</a:t>
            </a:r>
          </a:p>
          <a:p>
            <a:pPr algn="l">
              <a:spcAft>
                <a:spcPts val="300"/>
              </a:spcAft>
            </a:pPr>
            <a:r>
              <a:rPr sz="1200" b="0">
                <a:solidFill>
                  <a:srgbClr val="5B6372"/>
                </a:solidFill>
                <a:latin typeface="Arial"/>
              </a:rPr>
              <a:t>Normalise data while retaining raw values and provenance.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Calculate</a:t>
            </a:r>
          </a:p>
          <a:p>
            <a:pPr algn="l">
              <a:spcAft>
                <a:spcPts val="300"/>
              </a:spcAft>
            </a:pPr>
            <a:r>
              <a:rPr sz="1200" b="0">
                <a:solidFill>
                  <a:srgbClr val="5B6372"/>
                </a:solidFill>
                <a:latin typeface="Arial"/>
              </a:rPr>
              <a:t>Apply documented methods, factors, conversions and checks.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Prioritise</a:t>
            </a:r>
          </a:p>
          <a:p>
            <a:pPr algn="l">
              <a:spcAft>
                <a:spcPts val="300"/>
              </a:spcAft>
            </a:pPr>
            <a:r>
              <a:rPr sz="1200" b="0">
                <a:solidFill>
                  <a:srgbClr val="5B6372"/>
                </a:solidFill>
                <a:latin typeface="Arial"/>
              </a:rPr>
              <a:t>Assess materiality and framework gaps with explicit anchors.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Draft</a:t>
            </a:r>
          </a:p>
          <a:p>
            <a:pPr algn="l">
              <a:spcAft>
                <a:spcPts val="300"/>
              </a:spcAft>
            </a:pPr>
            <a:r>
              <a:rPr sz="1200" b="0">
                <a:solidFill>
                  <a:srgbClr val="5B6372"/>
                </a:solidFill>
                <a:latin typeface="Arial"/>
              </a:rPr>
              <a:t>Generate source-led sections and claim ledgers.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Eight-Stage Reporting Workflow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7 · Review</a:t>
            </a:r>
          </a:p>
          <a:p>
            <a:pPr algn="l">
              <a:spcAft>
                <a:spcPts val="300"/>
              </a:spcAft>
            </a:pPr>
            <a:r>
              <a:rPr sz="1200" b="0">
                <a:solidFill>
                  <a:srgbClr val="5B6372"/>
                </a:solidFill>
                <a:latin typeface="Arial"/>
              </a:rPr>
              <a:t>Reconcile claims, mappings, controls and approvals.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8 · Publish</a:t>
            </a:r>
          </a:p>
          <a:p>
            <a:pPr algn="l">
              <a:spcAft>
                <a:spcPts val="300"/>
              </a:spcAft>
            </a:pPr>
            <a:r>
              <a:rPr sz="1200" b="0">
                <a:solidFill>
                  <a:srgbClr val="5B6372"/>
                </a:solidFill>
                <a:latin typeface="Arial"/>
              </a:rPr>
              <a:t>Archive the evidence pack and improve the next cycle.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OPERATING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AI accelerates reporting work. It does not own the evidence, judgement or conclusion.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Credibility comes from traceable sources, transparent calculations, current requirements and accountable human review.</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Controlled evidence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 use charter and prompt log</a:t>
            </a:r>
          </a:p>
          <a:p>
            <a:pPr>
              <a:spcAft>
                <a:spcPts val="900"/>
              </a:spcAft>
            </a:pPr>
            <a:r>
              <a:rPr sz="1400" b="0">
                <a:solidFill>
                  <a:srgbClr val="161B26"/>
                </a:solidFill>
                <a:latin typeface="Arial"/>
              </a:rPr>
              <a:t>•  Framework and applicability register</a:t>
            </a:r>
          </a:p>
          <a:p>
            <a:pPr>
              <a:spcAft>
                <a:spcPts val="900"/>
              </a:spcAft>
            </a:pPr>
            <a:r>
              <a:rPr sz="1400" b="0">
                <a:solidFill>
                  <a:srgbClr val="161B26"/>
                </a:solidFill>
                <a:latin typeface="Arial"/>
              </a:rPr>
              <a:t>•  Structured ESG dataset and data dictionary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Verified reporting</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Emissions and intensity workpaper</a:t>
            </a:r>
          </a:p>
          <a:p>
            <a:pPr>
              <a:spcAft>
                <a:spcPts val="900"/>
              </a:spcAft>
            </a:pPr>
            <a:r>
              <a:rPr sz="1400" b="0">
                <a:solidFill>
                  <a:srgbClr val="161B26"/>
                </a:solidFill>
                <a:latin typeface="Arial"/>
              </a:rPr>
              <a:t>•  Materiality and gap matrix</a:t>
            </a:r>
          </a:p>
          <a:p>
            <a:pPr>
              <a:spcAft>
                <a:spcPts val="900"/>
              </a:spcAft>
            </a:pPr>
            <a:r>
              <a:rPr sz="1400" b="0">
                <a:solidFill>
                  <a:srgbClr val="161B26"/>
                </a:solidFill>
                <a:latin typeface="Arial"/>
              </a:rPr>
              <a:t>•  Disclosure draft and claim ledger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Repeatable governance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Framework crosswalk</a:t>
            </a:r>
          </a:p>
          <a:p>
            <a:pPr>
              <a:spcAft>
                <a:spcPts val="900"/>
              </a:spcAft>
            </a:pPr>
            <a:r>
              <a:rPr sz="1400" b="0">
                <a:solidFill>
                  <a:srgbClr val="161B26"/>
                </a:solidFill>
                <a:latin typeface="Arial"/>
              </a:rPr>
              <a:t>•  Assurance evidence index</a:t>
            </a:r>
          </a:p>
          <a:p>
            <a:pPr>
              <a:spcAft>
                <a:spcPts val="900"/>
              </a:spcAft>
            </a:pPr>
            <a:r>
              <a:rPr sz="1400" b="0">
                <a:solidFill>
                  <a:srgbClr val="161B26"/>
                </a:solidFill>
                <a:latin typeface="Arial"/>
              </a:rPr>
              <a:t>•  Recurring reporting workflow board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Review Loop Used in Every Lab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Ground the task in synthetic evidence and an explicit reporting boundary.</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Ask for a structured transformation, calculation check, draft or critique.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Compare output with original sources, formulas and current official requirements.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Record unresolved items and make the human decision to approve, revise or stop.</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Carry the versioned artifact and evidence trail into the next lab.</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TWO QUESTIONS · TWO EVIDENCE TESTS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the Materiality Lenses Separate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Impact lens</a:t>
            </a:r>
          </a:p>
          <a:p>
            <a:pPr algn="l">
              <a:spcAft>
                <a:spcPts val="300"/>
              </a:spcAft>
            </a:pPr>
            <a:r>
              <a:rPr sz="1200" b="0">
                <a:solidFill>
                  <a:srgbClr val="5B6372"/>
                </a:solidFill>
                <a:latin typeface="Arial"/>
              </a:rPr>
              <a:t>Which impacts on the economy, environment and people are most significant?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Investor lens</a:t>
            </a:r>
          </a:p>
          <a:p>
            <a:pPr algn="l">
              <a:spcAft>
                <a:spcPts val="300"/>
              </a:spcAft>
            </a:pPr>
            <a:r>
              <a:rPr sz="1200" b="0">
                <a:solidFill>
                  <a:srgbClr val="5B6372"/>
                </a:solidFill>
                <a:latin typeface="Arial"/>
              </a:rPr>
              <a:t>Which sustainability-related risks and opportunities could affect the entity's prospects?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Shared evidence</a:t>
            </a:r>
          </a:p>
          <a:p>
            <a:pPr algn="l">
              <a:spcAft>
                <a:spcPts val="300"/>
              </a:spcAft>
            </a:pPr>
            <a:r>
              <a:rPr sz="1200" b="0">
                <a:solidFill>
                  <a:srgbClr val="5B6372"/>
                </a:solidFill>
                <a:latin typeface="Arial"/>
              </a:rPr>
              <a:t>One source may inform both lenses, but each conclusion needs its own rationale.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Documented judgement</a:t>
            </a:r>
          </a:p>
          <a:p>
            <a:pPr algn="l">
              <a:spcAft>
                <a:spcPts val="300"/>
              </a:spcAft>
            </a:pPr>
            <a:r>
              <a:rPr sz="1200" b="0">
                <a:solidFill>
                  <a:srgbClr val="5B6372"/>
                </a:solidFill>
                <a:latin typeface="Arial"/>
              </a:rPr>
              <a:t>Thresholds, stakeholders, owners and decisions remain visible.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FROM RECORD TO APPROVED CLAIM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Reporting Evidence Chain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Source</a:t>
            </a:r>
          </a:p>
          <a:p>
            <a:pPr algn="l">
              <a:spcAft>
                <a:spcPts val="300"/>
              </a:spcAft>
            </a:pPr>
            <a:r>
              <a:rPr sz="1200" b="0">
                <a:solidFill>
                  <a:srgbClr val="5B6372"/>
                </a:solidFill>
                <a:latin typeface="Arial"/>
              </a:rPr>
              <a:t>Original record, owner, date, period, boundary and stable identifier.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Transformation</a:t>
            </a:r>
          </a:p>
          <a:p>
            <a:pPr algn="l">
              <a:spcAft>
                <a:spcPts val="300"/>
              </a:spcAft>
            </a:pPr>
            <a:r>
              <a:rPr sz="1200" b="0">
                <a:solidFill>
                  <a:srgbClr val="5B6372"/>
                </a:solidFill>
                <a:latin typeface="Arial"/>
              </a:rPr>
              <a:t>Extraction, normalisation and missing-data treatment.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Calculation</a:t>
            </a:r>
          </a:p>
          <a:p>
            <a:pPr algn="l">
              <a:spcAft>
                <a:spcPts val="300"/>
              </a:spcAft>
            </a:pPr>
            <a:r>
              <a:rPr sz="1200" b="0">
                <a:solidFill>
                  <a:srgbClr val="5B6372"/>
                </a:solidFill>
                <a:latin typeface="Arial"/>
              </a:rPr>
              <a:t>Formula, factor, conversion, result and independent check.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Claim</a:t>
            </a:r>
          </a:p>
          <a:p>
            <a:pPr algn="l">
              <a:spcAft>
                <a:spcPts val="300"/>
              </a:spcAft>
            </a:pPr>
            <a:r>
              <a:rPr sz="1200" b="0">
                <a:solidFill>
                  <a:srgbClr val="5B6372"/>
                </a:solidFill>
                <a:latin typeface="Arial"/>
              </a:rPr>
              <a:t>Draft statement linked to evidence, limitation and framework mapping.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Approval</a:t>
            </a:r>
          </a:p>
          <a:p>
            <a:pPr algn="l">
              <a:spcAft>
                <a:spcPts val="300"/>
              </a:spcAft>
            </a:pPr>
            <a:r>
              <a:rPr sz="1200" b="0">
                <a:solidFill>
                  <a:srgbClr val="5B6372"/>
                </a:solidFill>
                <a:latin typeface="Arial"/>
              </a:rPr>
              <a:t>Named reviewer, resolution, date and final version.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Generative AI for Sustainability Reporting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ESG and sustainability reporting · AI-assisted work · reporting frameworks · prompt design · responsible and transparent use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Day 1 morning · 2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Generative AI for Sustainability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Reporting purpose</a:t>
            </a:r>
          </a:p>
          <a:p>
            <a:pPr algn="l">
              <a:spcAft>
                <a:spcPts val="300"/>
              </a:spcAft>
            </a:pPr>
            <a:r>
              <a:rPr sz="1200" b="0">
                <a:solidFill>
                  <a:srgbClr val="5B6372"/>
                </a:solidFill>
                <a:latin typeface="Arial"/>
              </a:rPr>
              <a:t>Connect material impacts, risks and opportunities to decision-useful, traceable disclosures.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Framework lenses</a:t>
            </a:r>
          </a:p>
          <a:p>
            <a:pPr algn="l">
              <a:spcAft>
                <a:spcPts val="300"/>
              </a:spcAft>
            </a:pPr>
            <a:r>
              <a:rPr sz="1200" b="0">
                <a:solidFill>
                  <a:srgbClr val="5B6372"/>
                </a:solidFill>
                <a:latin typeface="Arial"/>
              </a:rPr>
              <a:t>Use GRI for significant impacts and ISSB/SASB for investor-focused risks and opportunities; retain TCFD as a useful climate bridge.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Grounded generation</a:t>
            </a:r>
          </a:p>
          <a:p>
            <a:pPr algn="l">
              <a:spcAft>
                <a:spcPts val="300"/>
              </a:spcAft>
            </a:pPr>
            <a:r>
              <a:rPr sz="1200" b="0">
                <a:solidFill>
                  <a:srgbClr val="5B6372"/>
                </a:solidFill>
                <a:latin typeface="Arial"/>
              </a:rPr>
              <a:t>Ask an AI assistant to transform supplied evidence, never to manufacture missing evidence.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accountability</a:t>
            </a:r>
          </a:p>
          <a:p>
            <a:pPr algn="l">
              <a:spcAft>
                <a:spcPts val="300"/>
              </a:spcAft>
            </a:pPr>
            <a:r>
              <a:rPr sz="1200" b="0">
                <a:solidFill>
                  <a:srgbClr val="5B6372"/>
                </a:solidFill>
                <a:latin typeface="Arial"/>
              </a:rPr>
              <a:t>A named preparer reviews scope, calculations, claims, privacy, rights and applicability before use.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Prompt contract</a:t>
            </a:r>
          </a:p>
          <a:p>
            <a:pPr algn="l">
              <a:spcAft>
                <a:spcPts val="300"/>
              </a:spcAft>
            </a:pPr>
            <a:r>
              <a:rPr sz="1200" b="0">
                <a:solidFill>
                  <a:srgbClr val="5B6372"/>
                </a:solidFill>
                <a:latin typeface="Arial"/>
              </a:rPr>
              <a:t>State goal, reporting context, constraints, sources, output schema and review tests.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Transparent use</a:t>
            </a:r>
          </a:p>
          <a:p>
            <a:pPr algn="l">
              <a:spcAft>
                <a:spcPts val="300"/>
              </a:spcAft>
            </a:pPr>
            <a:r>
              <a:rPr sz="1200" b="0">
                <a:solidFill>
                  <a:srgbClr val="5B6372"/>
                </a:solidFill>
                <a:latin typeface="Arial"/>
              </a:rPr>
              <a:t>Record model, date, inputs, revisions, source links and final human decision.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ESG, Sustainability Reporting and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Sustainability reporting explains an organisation's material impacts, risks, opportunities, governance, actions and performance. Generative AI is a drafting and transformation aid within that process; it is not a source of corporate evidence.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Readers rely on reported information for decisions. A fluent AI response can hide unsupported claims, boundary errors or omitted uncertainty unless the reporting team keeps evidence and judgement separate from language generation.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ESG, Sustainability Reporting and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Define the reporting objective, audience, period, entities and operational boundary.</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Collect approved records and label observed facts, calculations, interpretations and unknowns.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Use AI for bounded tasks such as structuring, summarising, comparing or critiquing.</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Verify every material statement and retain the approved evidence trail.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ESG, Sustainability Reporting and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HarbourLight Foods has electricity invoices, diesel records and a prior-year narrative.</a:t>
            </a:r>
          </a:p>
          <a:p>
            <a:pPr>
              <a:spcAft>
                <a:spcPts val="1000"/>
              </a:spcAft>
            </a:pPr>
            <a:r>
              <a:rPr sz="1600" b="0">
                <a:solidFill>
                  <a:srgbClr val="161B26"/>
                </a:solidFill>
                <a:latin typeface="Arial"/>
              </a:rPr>
              <a:t>•  The assistant organises those records into a disclosure outline and labels missing data.</a:t>
            </a:r>
          </a:p>
          <a:p>
            <a:pPr>
              <a:spcAft>
                <a:spcPts val="1000"/>
              </a:spcAft>
            </a:pPr>
            <a:r>
              <a:rPr sz="1600" b="0">
                <a:solidFill>
                  <a:srgbClr val="161B26"/>
                </a:solidFill>
                <a:latin typeface="Arial"/>
              </a:rPr>
              <a:t>•  The preparer calculates the metrics, confirms the boundary and approves the final wording.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task has a clear owner, approved evidence and a review checklist.</a:t>
            </a:r>
          </a:p>
          <a:p>
            <a:pPr>
              <a:spcAft>
                <a:spcPts val="1000"/>
              </a:spcAft>
            </a:pPr>
            <a:r>
              <a:rPr sz="1400" b="0">
                <a:solidFill>
                  <a:srgbClr val="5B6372"/>
                </a:solidFill>
                <a:latin typeface="Arial"/>
              </a:rPr>
              <a:t>–  The output can be traced back to a source record or transparent calculation.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assistant would receive confidential or personal data outside approved controls.</a:t>
            </a:r>
          </a:p>
          <a:p>
            <a:pPr>
              <a:spcAft>
                <a:spcPts val="1000"/>
              </a:spcAft>
            </a:pPr>
            <a:r>
              <a:rPr sz="1400" b="0">
                <a:solidFill>
                  <a:srgbClr val="5B6372"/>
                </a:solidFill>
                <a:latin typeface="Arial"/>
              </a:rPr>
              <a:t>–  The task asks the model to invent a figure, legal conclusion or assurance opinion.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ESG, Sustainability Reporting and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draft contains precise claims but no source identifiers or boundary statement.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an evidence table, explicit unknown labels and a named human approval gate.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material claim links to a record, calculation or documented judgement.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AI Tools for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AI reporting workspace combines an approved assistant, a synthetic or authorised source pack, a structured working folder and a versioned log of prompts, outputs and human decisions.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Setup choices determine what data is exposed, whether work can be reproduced and whether later reviewers can distinguish raw evidence from AI-generated working text.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Set Up AI Tools for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Confirm approved tools, access controls, retention settings and prohibited data classes.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Create separate folders for sources, calculations, drafts, review notes and approved output.</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Use stable source IDs and a prompt log with model, date, purpose and input references.</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Test the workflow with synthetic data before introducing authorised organisational records.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Set Up AI Tools for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team creates HLF-2025/source, calculation, draft and review folders.</a:t>
            </a:r>
          </a:p>
          <a:p>
            <a:pPr>
              <a:spcAft>
                <a:spcPts val="1000"/>
              </a:spcAft>
            </a:pPr>
            <a:r>
              <a:rPr sz="1600" b="0">
                <a:solidFill>
                  <a:srgbClr val="161B26"/>
                </a:solidFill>
                <a:latin typeface="Arial"/>
              </a:rPr>
              <a:t>•  Invoice INV-E-012 and factor EF-SG-2025-TRAINING remain referenced by stable IDs.</a:t>
            </a:r>
          </a:p>
          <a:p>
            <a:pPr>
              <a:spcAft>
                <a:spcPts val="1000"/>
              </a:spcAft>
            </a:pPr>
            <a:r>
              <a:rPr sz="1600" b="0">
                <a:solidFill>
                  <a:srgbClr val="161B26"/>
                </a:solidFill>
                <a:latin typeface="Arial"/>
              </a:rPr>
              <a:t>•  Prompt P-001 uses only synthetic extracts and the reviewer records APPROVE, REVISE or STOP.</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organisation has approved the tool and defined its data-handling rules.</a:t>
            </a:r>
          </a:p>
          <a:p>
            <a:pPr>
              <a:spcAft>
                <a:spcPts val="1000"/>
              </a:spcAft>
            </a:pPr>
            <a:r>
              <a:rPr sz="1400" b="0">
                <a:solidFill>
                  <a:srgbClr val="5B6372"/>
                </a:solidFill>
                <a:latin typeface="Arial"/>
              </a:rPr>
              <a:t>–  A reviewer can reproduce the task from saved source IDs and prompt instructions.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Consumer accounts are used for restricted records without organisational approval.</a:t>
            </a:r>
          </a:p>
          <a:p>
            <a:pPr>
              <a:spcAft>
                <a:spcPts val="1000"/>
              </a:spcAft>
            </a:pPr>
            <a:r>
              <a:rPr sz="1400" b="0">
                <a:solidFill>
                  <a:srgbClr val="5B6372"/>
                </a:solidFill>
                <a:latin typeface="Arial"/>
              </a:rPr>
              <a:t>–  Source files and generated drafts are mixed in one unversioned folder.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Set Up AI Tools for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No one can tell which input or model produced a sentence.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Introduce stable IDs, version names, a prompt log and separate source and draft areas.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second reviewer can reproduce the draft lineage without guessing.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GRI, SASB, TCFD and ISSB at a Glance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GRI focuses on an organisation's most significant impacts on the economy, environment and people. ISSB Standards establish an investor-focused baseline; SASB supplies industry-based topics and metrics. TCFD's governance, strategy, risk management, and metrics-and-targets architecture is incorporated into IFRS S2.</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Framework names are not interchangeable. Selecting a disclosure only because an AI response mentioned a familiar acronym can create materiality, audience and completeness errors.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GRI, SASB, TCFD and ISSB at a Glance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Identify the reporting audience, jurisdiction, applicable rules and stated reporting basis.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Apply the relevant materiality lens before selecting disclosures or metrics.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Use official standards and current applicability guidance as the requirements register.</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Map one evidence item to multiple requirements only where definitions and boundaries genuinely align.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GRI, SASB, TCFD and ISSB at a Glance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Water stress may be significant as an impact under GRI even when it is not financially material.</a:t>
            </a:r>
          </a:p>
          <a:p>
            <a:pPr>
              <a:spcAft>
                <a:spcPts val="1000"/>
              </a:spcAft>
            </a:pPr>
            <a:r>
              <a:rPr sz="1600" b="0">
                <a:solidFill>
                  <a:srgbClr val="161B26"/>
                </a:solidFill>
                <a:latin typeface="Arial"/>
              </a:rPr>
              <a:t>•  A climate transition risk may be material to investors under IFRS S1 and IFRS S2.</a:t>
            </a:r>
          </a:p>
          <a:p>
            <a:pPr>
              <a:spcAft>
                <a:spcPts val="1000"/>
              </a:spcAft>
            </a:pPr>
            <a:r>
              <a:rPr sz="1600" b="0">
                <a:solidFill>
                  <a:srgbClr val="161B26"/>
                </a:solidFill>
                <a:latin typeface="Arial"/>
              </a:rPr>
              <a:t>•  A food-sector SASB metric can add industry specificity while the TCFD architecture supports transition to IFRS S2.</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Building a framework register or explaining why a disclosure belongs in the report.</a:t>
            </a:r>
          </a:p>
          <a:p>
            <a:pPr>
              <a:spcAft>
                <a:spcPts val="1000"/>
              </a:spcAft>
            </a:pPr>
            <a:r>
              <a:rPr sz="1400" b="0">
                <a:solidFill>
                  <a:srgbClr val="5B6372"/>
                </a:solidFill>
                <a:latin typeface="Arial"/>
              </a:rPr>
              <a:t>–  Reconciling impact-focused and investor-focused information without merging their tests.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Declaring broad compliance from a keyword match or incomplete checklist.</a:t>
            </a:r>
          </a:p>
          <a:p>
            <a:pPr>
              <a:spcAft>
                <a:spcPts val="1000"/>
              </a:spcAft>
            </a:pPr>
            <a:r>
              <a:rPr sz="1400" b="0">
                <a:solidFill>
                  <a:srgbClr val="5B6372"/>
                </a:solidFill>
                <a:latin typeface="Arial"/>
              </a:rPr>
              <a:t>–  Treating TCFD as an additional current layer where IFRS S2 already covers it, unless a rule still requires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GRI, SASB, TCFD and ISSB at a Glance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framework column contains several acronyms but no requirement IDs or rationale.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Record audience, lens, official source, requirement identifier and applicability decision.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mapping explains both why the item is relevant and what evidence supports it.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Effective Prompting and Responsible, Transparent AI 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reporting prompt is a controlled work instruction containing a goal, context, constraints, source boundaries, output schema and review criteria. Transparent use records the assistant's role and the human checks that converted working text into approved content.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Generic prompts reward plausible prose. A structured prompt and adversarial review make missing evidence, inconsistent units, unsupported causal language and invented requirements easier to detect.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Effective Prompting and Responsible, Transparent AI 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State one task, audience, reporting period and intended decision.</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Paste or reference only approved source extracts and forbid unsupported completion.</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Require a structured output with claim, source, confidence and unresolved-question fields.</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Run a separate critique prompt, then verify the critique against the original evidence.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Effective Prompting and Responsible, Transparent AI 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Goal: draft a 150-word energy disclosure for FY2025 using sources HLF-E01 to HLF-E06.</a:t>
            </a:r>
          </a:p>
          <a:p>
            <a:pPr>
              <a:spcAft>
                <a:spcPts val="1000"/>
              </a:spcAft>
            </a:pPr>
            <a:r>
              <a:rPr sz="1600" b="0">
                <a:solidFill>
                  <a:srgbClr val="161B26"/>
                </a:solidFill>
                <a:latin typeface="Arial"/>
              </a:rPr>
              <a:t>•  Constraint: preserve units, label calculated values and write MISSING where evidence is absent.</a:t>
            </a:r>
          </a:p>
          <a:p>
            <a:pPr>
              <a:spcAft>
                <a:spcPts val="1000"/>
              </a:spcAft>
            </a:pPr>
            <a:r>
              <a:rPr sz="1600" b="0">
                <a:solidFill>
                  <a:srgbClr val="161B26"/>
                </a:solidFill>
                <a:latin typeface="Arial"/>
              </a:rPr>
              <a:t>•  Review: return a claim ledger and flag wording that implies causation, certainty or compliance.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Drafting, restructuring or reviewing content from a bounded evidence pack.</a:t>
            </a:r>
          </a:p>
          <a:p>
            <a:pPr>
              <a:spcAft>
                <a:spcPts val="1000"/>
              </a:spcAft>
            </a:pPr>
            <a:r>
              <a:rPr sz="1400" b="0">
                <a:solidFill>
                  <a:srgbClr val="5B6372"/>
                </a:solidFill>
                <a:latin typeface="Arial"/>
              </a:rPr>
              <a:t>–  The output format exposes uncertainty and supports line-by-line verification.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prompt asks for a current legal or standards conclusion without checking the official source.</a:t>
            </a:r>
          </a:p>
          <a:p>
            <a:pPr>
              <a:spcAft>
                <a:spcPts val="1000"/>
              </a:spcAft>
            </a:pPr>
            <a:r>
              <a:rPr sz="1400" b="0">
                <a:solidFill>
                  <a:srgbClr val="5B6372"/>
                </a:solidFill>
                <a:latin typeface="Arial"/>
              </a:rPr>
              <a:t>–  The model is asked to conceal its role or remove known caveats to sound more confident.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Effective Prompting and Responsible, Transparent AI Use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answer is polished but fills evidence gaps silently.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Require MISSING labels, a claim ledger and an independent human source check.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Uncertainty remains visible and all accepted claims survive source verification.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Generative AI for Sustainability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 the Reporting Boundary and AI Control Contract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Framework and Materiality-Lens Register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the Reporting Boundary and AI Control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 · 40 MIN</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set up the synthetic HarbourLight Foods reporting workspace, define the reporting entity, period, audience and evidence boundary, and write an AI-use charter. You will then run one bounded transformation task and record the sources, output and human decision.</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reporting-basis.md, ai-use-charter.md and prompt-log.csv that define scope, permitted data, prompt controls, review gates and a reproducible first AI-assisted task.</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Define the basis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Set AI controls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Write the prompt contract</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Test and log</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Text editor · approved AI assistant · labs/assets/harbourlight-company-brief.md · source-pack-index.md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40 MIN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the Reporting Boundary and AI Control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98480" cy="4251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93392"/>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651760"/>
            <a:ext cx="10058400" cy="2971800"/>
          </a:xfrm>
          <a:prstGeom prst="rect">
            <a:avLst/>
          </a:prstGeom>
          <a:noFill/>
        </p:spPr>
        <p:txBody>
          <a:bodyPr wrap="square" anchor="t">
            <a:spAutoFit/>
          </a:bodyPr>
          <a:lstStyle/>
          <a:p>
            <a:pPr algn="l">
              <a:spcAft>
                <a:spcPts val="400"/>
              </a:spcAft>
            </a:pPr>
            <a:r>
              <a:rPr sz="1800" b="0">
                <a:solidFill>
                  <a:srgbClr val="161B26"/>
                </a:solidFill>
                <a:latin typeface="Arial"/>
              </a:rPr>
              <a:t>Open the three control files. reporting-basis.md must state entity, FY2025 period, boundary, audiences, owners and unresolved questions. ai-use-charter.md must contain all five headings and at least fifteen specific rules. prompt-log.csv must contain P-001 with source HLF-BRIEF-01, output filename, reviewer, decision and reason. P-001-output.md must have no unsupported row marked SUPPORTED.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Framework and Materiality-Lens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 · 45 MIN</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inspect the supplied official-source links, complete a framework register for GRI, ISSB, SASB and TCFD, and add Singapore applicability checks. An AI assistant may compare the supplied summaries, but you will verify every retained statement against the official page.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framework-and-applicability-register.csv plus materiality-lenses.md showing purpose, audience, lens, requirement source, effective-date check, applicability owner and unresolved questions.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Open official sources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Classify the lenses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Map reporting needs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Critique and verify</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Browser · spreadsheet · approved AI assistant · framework-starter-register.csv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45 MIN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Framework and Materiality-Lens Register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98480" cy="4251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93392"/>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651760"/>
            <a:ext cx="10058400" cy="2971800"/>
          </a:xfrm>
          <a:prstGeom prst="rect">
            <a:avLst/>
          </a:prstGeom>
          <a:noFill/>
        </p:spPr>
        <p:txBody>
          <a:bodyPr wrap="square" anchor="t">
            <a:spAutoFit/>
          </a:bodyPr>
          <a:lstStyle/>
          <a:p>
            <a:pPr algn="l">
              <a:spcAft>
                <a:spcPts val="400"/>
              </a:spcAft>
            </a:pPr>
            <a:r>
              <a:rPr sz="1400" b="0">
                <a:solidFill>
                  <a:srgbClr val="161B26"/>
                </a:solidFill>
                <a:latin typeface="Arial"/>
              </a:rPr>
              <a:t>The register must contain all nine required framework or jurisdiction rows, official URL, and either an actual checked date or PENDING CHECK with a named owner. Each row must have audience, lens, current-status note and owner. It must contain five HarbourLight reporting-need rows and no unsupported applicability claim marked CURRENT. materiality-lenses.md must keep the two lenses separate, explain shared evidence correctly and identify the owner of final applicability decisions. prompt-log.csv must contain P-002 and the register must record a reviewer result and reason for every AI-proposed change.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Getting Started with Generative AI for Sustainability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establish a responsible, evidence-controlled generative AI reporting workflow</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distinguish GRI, SASB, TCFD and ISSB purposes and record current applicability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 for ESG Data Collection and Analysis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Source registers · data dictionaries · metric calculations · emissions boundaries · materiality · gap analysis · charts and summaries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Day 1 afternoon · 3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AI for ESG Data Collection and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 register</a:t>
            </a:r>
          </a:p>
          <a:p>
            <a:pPr algn="l">
              <a:spcAft>
                <a:spcPts val="300"/>
              </a:spcAft>
            </a:pPr>
            <a:r>
              <a:rPr sz="1200" b="0">
                <a:solidFill>
                  <a:srgbClr val="5B6372"/>
                </a:solidFill>
                <a:latin typeface="Arial"/>
              </a:rPr>
              <a:t>Track source owner, period, boundary, unit, status and location before analysis.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dictionary</a:t>
            </a:r>
          </a:p>
          <a:p>
            <a:pPr algn="l">
              <a:spcAft>
                <a:spcPts val="300"/>
              </a:spcAft>
            </a:pPr>
            <a:r>
              <a:rPr sz="1200" b="0">
                <a:solidFill>
                  <a:srgbClr val="5B6372"/>
                </a:solidFill>
                <a:latin typeface="Arial"/>
              </a:rPr>
              <a:t>Define each field, unit, allowed value, calculation and missing-data treatment.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Calculation lineage</a:t>
            </a:r>
          </a:p>
          <a:p>
            <a:pPr algn="l">
              <a:spcAft>
                <a:spcPts val="300"/>
              </a:spcAft>
            </a:pPr>
            <a:r>
              <a:rPr sz="1200" b="0">
                <a:solidFill>
                  <a:srgbClr val="5B6372"/>
                </a:solidFill>
                <a:latin typeface="Arial"/>
              </a:rPr>
              <a:t>Preserve activity data, factor source, formula, unit conversion and reviewer.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Materiality lenses</a:t>
            </a:r>
          </a:p>
          <a:p>
            <a:pPr algn="l">
              <a:spcAft>
                <a:spcPts val="300"/>
              </a:spcAft>
            </a:pPr>
            <a:r>
              <a:rPr sz="1200" b="0">
                <a:solidFill>
                  <a:srgbClr val="5B6372"/>
                </a:solidFill>
                <a:latin typeface="Arial"/>
              </a:rPr>
              <a:t>Assess significant impacts separately from investor-focused risks and opportunities.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Gap status</a:t>
            </a:r>
          </a:p>
          <a:p>
            <a:pPr algn="l">
              <a:spcAft>
                <a:spcPts val="300"/>
              </a:spcAft>
            </a:pPr>
            <a:r>
              <a:rPr sz="1200" b="0">
                <a:solidFill>
                  <a:srgbClr val="5B6372"/>
                </a:solidFill>
                <a:latin typeface="Arial"/>
              </a:rPr>
              <a:t>Distinguish complete, partial, missing, not applicable and pending verification.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Visual integrity</a:t>
            </a:r>
          </a:p>
          <a:p>
            <a:pPr algn="l">
              <a:spcAft>
                <a:spcPts val="300"/>
              </a:spcAft>
            </a:pPr>
            <a:r>
              <a:rPr sz="1200" b="0">
                <a:solidFill>
                  <a:srgbClr val="5B6372"/>
                </a:solidFill>
                <a:latin typeface="Arial"/>
              </a:rPr>
              <a:t>Use consistent denominators, labelled units, honest scales and visible limitations.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Gather and Structure ESG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ESG data collection turns heterogeneous records into a controlled dataset with stable identifiers, defined fields, consistent units, reporting boundaries and visible evidence status.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 can extract or normalise repeated fields quickly, but unreviewed extraction may change units, merge entities, duplicate records or convert blanks into invented values.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Gather and Structure ESG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Inventory source records and assign source, entity, site, period and owner identifiers.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Define a data dictionary before asking AI to extract or transform values.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Require raw value, raw unit, normalised value, normalised unit and transformation note.</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Validate totals, duplicates, ranges and missing fields against the original records.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Gather and Structure ESG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Three sites provide electricity in kWh, MWh and invoice line-item extracts.</a:t>
            </a:r>
          </a:p>
          <a:p>
            <a:pPr>
              <a:spcAft>
                <a:spcPts val="1000"/>
              </a:spcAft>
            </a:pPr>
            <a:r>
              <a:rPr sz="1600" b="0">
                <a:solidFill>
                  <a:srgbClr val="161B26"/>
                </a:solidFill>
                <a:latin typeface="Arial"/>
              </a:rPr>
              <a:t>•  The target schema normalises energy to kWh while retaining raw values and source pages.</a:t>
            </a:r>
          </a:p>
          <a:p>
            <a:pPr>
              <a:spcAft>
                <a:spcPts val="1000"/>
              </a:spcAft>
            </a:pPr>
            <a:r>
              <a:rPr sz="1600" b="0">
                <a:solidFill>
                  <a:srgbClr val="161B26"/>
                </a:solidFill>
                <a:latin typeface="Arial"/>
              </a:rPr>
              <a:t>•  A pivot check compares extracted totals with invoice totals and flags one duplicate month.</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source set is bounded and the extraction schema is explicit.</a:t>
            </a:r>
          </a:p>
          <a:p>
            <a:pPr>
              <a:spcAft>
                <a:spcPts val="1000"/>
              </a:spcAft>
            </a:pPr>
            <a:r>
              <a:rPr sz="1400" b="0">
                <a:solidFill>
                  <a:srgbClr val="5B6372"/>
                </a:solidFill>
                <a:latin typeface="Arial"/>
              </a:rPr>
              <a:t>–  A human can sample and reconcile extracted values to original records.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Scanned records are unreadable or the model cannot preserve page-level provenance.</a:t>
            </a:r>
          </a:p>
          <a:p>
            <a:pPr>
              <a:spcAft>
                <a:spcPts val="1000"/>
              </a:spcAft>
            </a:pPr>
            <a:r>
              <a:rPr sz="1400" b="0">
                <a:solidFill>
                  <a:srgbClr val="5B6372"/>
                </a:solidFill>
                <a:latin typeface="Arial"/>
              </a:rPr>
              <a:t>–  The workflow overwrites raw values or discards missing-data reasons.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Gather and Structure ESG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Normalised values exist without raw values or transformation notes.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Restore immutable raw columns, units, source IDs and reconciliation checks.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reviewer can trace every reported number to the original record and conversion.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Calculate and Interpret Metrics and Emissions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sustainability metric combines a precisely defined numerator, denominator, boundary, period and unit. A basic greenhouse-gas calculation multiplies activity data by an appropriate emission factor and converts units consistently.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Seemingly small choices—scope, factor year, consolidation boundary, denominator or rounding—can materially change a trend and make year-on-year comparison misleading.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Calculate and Interpret Metrics and Emissions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Confirm organisational and operational boundaries plus the metric definition.</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Validate activity units and select a documented factor with geography, year and source.</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Calculate result = activity data × factor × unit conversion and retain each component.</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Review totals, intensity denominators, trend drivers, estimation status and restatements.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Calculate and Interpret Metrics and Emissions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520,000 kWh × 0.408 kg CO2e/kWh = 212,160 kg CO2e, or 212.16 tCO2e.</a:t>
            </a:r>
          </a:p>
          <a:p>
            <a:pPr>
              <a:spcAft>
                <a:spcPts val="1000"/>
              </a:spcAft>
            </a:pPr>
            <a:r>
              <a:rPr sz="1600" b="0">
                <a:solidFill>
                  <a:srgbClr val="161B26"/>
                </a:solidFill>
                <a:latin typeface="Arial"/>
              </a:rPr>
              <a:t>•  Revenue intensity = total tCO2e ÷ S$ million revenue, using the same reporting period.</a:t>
            </a:r>
          </a:p>
          <a:p>
            <a:pPr>
              <a:spcAft>
                <a:spcPts val="1000"/>
              </a:spcAft>
            </a:pPr>
            <a:r>
              <a:rPr sz="1600" b="0">
                <a:solidFill>
                  <a:srgbClr val="161B26"/>
                </a:solidFill>
                <a:latin typeface="Arial"/>
              </a:rPr>
              <a:t>•  The narrative states that the electricity factor is a synthetic training value, not an official inventory factor.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Inputs, factors, conversions and boundaries are documented and reviewed.</a:t>
            </a:r>
          </a:p>
          <a:p>
            <a:pPr>
              <a:spcAft>
                <a:spcPts val="1000"/>
              </a:spcAft>
            </a:pPr>
            <a:r>
              <a:rPr sz="1400" b="0">
                <a:solidFill>
                  <a:srgbClr val="5B6372"/>
                </a:solidFill>
                <a:latin typeface="Arial"/>
              </a:rPr>
              <a:t>–  Comparisons use consistent periods and explain any recalculation or estimation.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model supplies an emission factor without an authoritative, current source.</a:t>
            </a:r>
          </a:p>
          <a:p>
            <a:pPr>
              <a:spcAft>
                <a:spcPts val="1000"/>
              </a:spcAft>
            </a:pPr>
            <a:r>
              <a:rPr sz="1400" b="0">
                <a:solidFill>
                  <a:srgbClr val="5B6372"/>
                </a:solidFill>
                <a:latin typeface="Arial"/>
              </a:rPr>
              <a:t>–  An intensity improvement is presented without also checking the absolute metric and denominator change.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Calculate and Interpret Metrics and Emissions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result has no unit, factor version, boundary or calculation trail.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Rebuild the calculation table from activity data through conversion to final metric.</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figure recalculates exactly and its comparison basis is explicit.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Conduct Materiality and Gap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Materiality analysis prioritises significant impacts and/or sustainability-related risks and opportunities using the stated reporting lens. Gap analysis compares required or chosen disclosures with available evidence.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 can cluster evidence and surface candidate topics, but it cannot replace stakeholder engagement, management judgement, legal applicability decisions or the documented basis for prioritisation.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Conduct Materiality and Gap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Record candidate topics, evidence, affected stakeholders and the reporting lens.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Score impact significance and investor relevance separately using defined anchors.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Map priority topics to requirements and classify evidence as complete, partial, missing or not applicable.</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Review thresholds, outliers, omitted sector topics and management decisions.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Conduct Materiality and Gap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Packaging waste scores high for environmental impact while energy price volatility scores high for financial effect.</a:t>
            </a:r>
          </a:p>
          <a:p>
            <a:pPr>
              <a:spcAft>
                <a:spcPts val="1000"/>
              </a:spcAft>
            </a:pPr>
            <a:r>
              <a:rPr sz="1600" b="0">
                <a:solidFill>
                  <a:srgbClr val="161B26"/>
                </a:solidFill>
                <a:latin typeface="Arial"/>
              </a:rPr>
              <a:t>•  The framework register shows complete energy data but only partial supplier-screening evidence.</a:t>
            </a:r>
          </a:p>
          <a:p>
            <a:pPr>
              <a:spcAft>
                <a:spcPts val="1000"/>
              </a:spcAft>
            </a:pPr>
            <a:r>
              <a:rPr sz="1600" b="0">
                <a:solidFill>
                  <a:srgbClr val="161B26"/>
                </a:solidFill>
                <a:latin typeface="Arial"/>
              </a:rPr>
              <a:t>•  The decision log records the threshold, reviewer and reason for each included or deferred item.</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Scoring anchors are written before scoring and evidence remains attached to each judgement.</a:t>
            </a:r>
          </a:p>
          <a:p>
            <a:pPr>
              <a:spcAft>
                <a:spcPts val="1000"/>
              </a:spcAft>
            </a:pPr>
            <a:r>
              <a:rPr sz="1400" b="0">
                <a:solidFill>
                  <a:srgbClr val="5B6372"/>
                </a:solidFill>
                <a:latin typeface="Arial"/>
              </a:rPr>
              <a:t>–  The output supports a decision log rather than claiming to automate materiality.</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One combined score hides the difference between impact and financial materiality.</a:t>
            </a:r>
          </a:p>
          <a:p>
            <a:pPr>
              <a:spcAft>
                <a:spcPts val="1000"/>
              </a:spcAft>
            </a:pPr>
            <a:r>
              <a:rPr sz="1400" b="0">
                <a:solidFill>
                  <a:srgbClr val="5B6372"/>
                </a:solidFill>
                <a:latin typeface="Arial"/>
              </a:rPr>
              <a:t>–  Stakeholder views or sector guidance are generated instead of collected and verified.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Conduct Materiality and Gap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topic is labelled material with identical reasoning.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Separate lenses, define scoring anchors and allow evidence-based non-priority decisions.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reviewer can reproduce the ranking and challenge each judgement.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Visualise and Summarise ESG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reporting visual encodes a defined metric across time, entity or category so a reader can compare values without losing units, denominators, boundaries or uncertainty.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Charts compress complex data, which also makes them capable of hiding denominator shifts, missing periods, inconsistent scales and estimation changes.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Visualise and Summarise ESG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Choose the decision and comparison before choosing a chart type.</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Validate tidy data, units, ordering, baselines and missing-value treatment.</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Use a descriptive title, direct labels, source note and concise limitation.</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Write a summary that separates observation, interpretation and recommended follow-up.</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Visualise and Summarise ESG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two-year bar chart shows absolute Scope 1 and Scope 2 tCO2e by year.</a:t>
            </a:r>
          </a:p>
          <a:p>
            <a:pPr>
              <a:spcAft>
                <a:spcPts val="1000"/>
              </a:spcAft>
            </a:pPr>
            <a:r>
              <a:rPr sz="1600" b="0">
                <a:solidFill>
                  <a:srgbClr val="161B26"/>
                </a:solidFill>
                <a:latin typeface="Arial"/>
              </a:rPr>
              <a:t>•  A small companion table shows revenue and tCO2e per S$ million to expose denominator effects.</a:t>
            </a:r>
          </a:p>
          <a:p>
            <a:pPr>
              <a:spcAft>
                <a:spcPts val="1000"/>
              </a:spcAft>
            </a:pPr>
            <a:r>
              <a:rPr sz="1600" b="0">
                <a:solidFill>
                  <a:srgbClr val="161B26"/>
                </a:solidFill>
                <a:latin typeface="Arial"/>
              </a:rPr>
              <a:t>•  The summary notes the observed change and asks for operations evidence before assigning a cause.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visual materially improves comparison and all plotted fields share a coherent grain.</a:t>
            </a:r>
          </a:p>
          <a:p>
            <a:pPr>
              <a:spcAft>
                <a:spcPts val="1000"/>
              </a:spcAft>
            </a:pPr>
            <a:r>
              <a:rPr sz="1400" b="0">
                <a:solidFill>
                  <a:srgbClr val="5B6372"/>
                </a:solidFill>
                <a:latin typeface="Arial"/>
              </a:rPr>
              <a:t>–  Readers can see units, time period, boundary, source and limitations.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decorative chart replaces a short table or implies precision unsupported by the data.</a:t>
            </a:r>
          </a:p>
          <a:p>
            <a:pPr>
              <a:spcAft>
                <a:spcPts val="1000"/>
              </a:spcAft>
            </a:pPr>
            <a:r>
              <a:rPr sz="1400" b="0">
                <a:solidFill>
                  <a:srgbClr val="5B6372"/>
                </a:solidFill>
                <a:latin typeface="Arial"/>
              </a:rPr>
              <a:t>–  A causal explanation is generated from correlation or two aggregated points.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Visualise and Summarise ESG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chart has a clever title but no unit, boundary or source note.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Restore neutral labelling, units, data notes and a separate interpretation sentence.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visual and source table reconcile exactly and support the same conclusion.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AI for ESG Data Collection and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the ESG Evidence Register and Data Dictionary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Calculate Scope 1, Scope 2 and Intensity Metrics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5</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Materiality, Gap and Visual Analysis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the ESG Evidence Register and Data Dictionary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 · 50 MIN</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inspect HarbourLight's synthetic activity records, define a data dictionary and create a structured ESG dataset. An AI assistant may propose field classifications and normalisation rules, but you will reconcile every retained value to its source row.</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data-dictionary.csv, esg-evidence-register.csv and structured-esg-data.csv containing raw and normalised values, source IDs, owners, periods, boundaries and review status.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Inventory sources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Define the schema</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Normalise carefully</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Reconcile and log</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approved AI assistant · esg-activity-data.csv · esg-evidence-register-starter.csv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50 MIN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the ESG Evidence Register and Data Dictionary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98480" cy="4251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93392"/>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651760"/>
            <a:ext cx="10058400" cy="2971800"/>
          </a:xfrm>
          <a:prstGeom prst="rect">
            <a:avLst/>
          </a:prstGeom>
          <a:noFill/>
        </p:spPr>
        <p:txBody>
          <a:bodyPr wrap="square" anchor="t">
            <a:spAutoFit/>
          </a:bodyPr>
          <a:lstStyle/>
          <a:p>
            <a:pPr algn="l">
              <a:spcAft>
                <a:spcPts val="400"/>
              </a:spcAft>
            </a:pPr>
            <a:r>
              <a:rPr sz="1600" b="0">
                <a:solidFill>
                  <a:srgbClr val="161B26"/>
                </a:solidFill>
                <a:latin typeface="Arial"/>
              </a:rPr>
              <a:t>data-dictionary.csv must define all required fields and their controls. Every structured row must retain Row_ID, Controlled_Metric, raw value, raw unit, source ID, source row and unique Transformation_ID. All MWh rows must convert exactly to kWh, no other value may change without a rule, and every source lookup must resolve. The control log must contain C01–C04 with reviewer, result and resolution or named open owner. prompt-log.csv must contain completed P-003 review fields.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Calculate Scope 1, Scope 2 and Intensity Metrics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 · 55 MIN</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join verified activity data to synthetic training emission factors, calculate FY2024 and FY2025 Scope 1 and Scope 2 emissions, and compare absolute and revenue-intensity results. You will ask AI to review the workpaper structure and draft observations, not to supply factors.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An emissions-workpaper.xlsx or emissions-workpaper.csv set containing calculation rows, annual summaries, intensity metrics, control checks, a variance note and complete factor provenance.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Confirm boundaries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Join factors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Calculate and reconcile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Interpret cautiously</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approved AI assistant · structured-esg-data.csv · emission-factors-training.csv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55 MIN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Calculate Scope 1, Scope 2 and Intensity Metrics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98480" cy="4251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93392"/>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651760"/>
            <a:ext cx="10058400" cy="2971800"/>
          </a:xfrm>
          <a:prstGeom prst="rect">
            <a:avLst/>
          </a:prstGeom>
          <a:noFill/>
        </p:spPr>
        <p:txBody>
          <a:bodyPr wrap="square" anchor="t">
            <a:spAutoFit/>
          </a:bodyPr>
          <a:lstStyle/>
          <a:p>
            <a:pPr algn="l">
              <a:spcAft>
                <a:spcPts val="400"/>
              </a:spcAft>
            </a:pPr>
            <a:r>
              <a:rPr sz="1600" b="0">
                <a:solidFill>
                  <a:srgbClr val="161B26"/>
                </a:solidFill>
                <a:latin typeface="Arial"/>
              </a:rPr>
              <a:t>The workpaper must reproduce the expected training totals within 0.01 tCO2e and the displayed intensities within 0.01 tCO2e/S$ million. Every calculation row must retain Calculation_ID, activity source, Transformation_ID, factor source HLF-FACTOR-TRAINING, factor ID, units and formula. C05–C09 must be PASS or have a named OPEN owner. The variance note must distinguish absolute and intensity movement and must not state an unsupported cause. prompt-log.csv must contain a completed P-004 row.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Run Materiality, Gap and Visual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 · 50 MIN</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use synthetic stakeholder and business evidence to score five topics under separate impact and investor lenses, map each topic to the framework register and classify evidence gaps. You will then create a chart and a short summary that avoids causal overreach.</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materiality-gap-analysis.xlsx or CSV set with scoring anchors, topic evidence, two separate lens scores, framework-gap status, a labelled chart, reviewer decisions and a follow-up plan.</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Set scoring anchors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Score with evidence</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Map the gaps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Visualise and review</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approved AI assistant · stakeholder-impact-notes.md · framework-and-applicability-register.csv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50 MIN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Run Materiality, Gap and Visual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98480" cy="4251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93392"/>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651760"/>
            <a:ext cx="10058400" cy="2971800"/>
          </a:xfrm>
          <a:prstGeom prst="rect">
            <a:avLst/>
          </a:prstGeom>
          <a:noFill/>
        </p:spPr>
        <p:txBody>
          <a:bodyPr wrap="square" anchor="t">
            <a:spAutoFit/>
          </a:bodyPr>
          <a:lstStyle/>
          <a:p>
            <a:pPr algn="l">
              <a:spcAft>
                <a:spcPts val="400"/>
              </a:spcAft>
            </a:pPr>
            <a:r>
              <a:rPr sz="1600" b="0">
                <a:solidFill>
                  <a:srgbClr val="161B26"/>
                </a:solidFill>
                <a:latin typeface="Arial"/>
              </a:rPr>
              <a:t>MAT-GAP-01 must contain all five topics with Proposed_* and Final_* component scores, formulas based on Final_* scores, source IDs, evidence strength, final reviewer and any adjustment reason. Impact and investor totals must remain separate and range from 0–8. Every gap must map to a named candidate requirement and owner. The chart must encode both lenses visibly, label axes and topics, include the synthetic-source limitation and reconcile to the data table. prompt-log.csv must contain P-005.</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AI for ESG Data Collection and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LO2: structure ESG source data with traceable provenance, units and quality status</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LO2: calculate and interpret selected emissions and intensity metrics with transparent lineage</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LO2: perform transparent materiality and gap analysis and communicate results with an honest visual</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 for Drafting and Structuring Reports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Evidence-grounded narrative · executive summaries · report architecture · tone and readability · claim validation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Day 2 morning · 1 lab</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AI for Drafting and Structuring Reports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Disclosure logic</a:t>
            </a:r>
          </a:p>
          <a:p>
            <a:pPr algn="l">
              <a:spcAft>
                <a:spcPts val="300"/>
              </a:spcAft>
            </a:pPr>
            <a:r>
              <a:rPr sz="1200" b="0">
                <a:solidFill>
                  <a:srgbClr val="5B6372"/>
                </a:solidFill>
                <a:latin typeface="Arial"/>
              </a:rPr>
              <a:t>State boundary and method before performance, interpretation, actions and limitations.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Claim ledger</a:t>
            </a:r>
          </a:p>
          <a:p>
            <a:pPr algn="l">
              <a:spcAft>
                <a:spcPts val="300"/>
              </a:spcAft>
            </a:pPr>
            <a:r>
              <a:rPr sz="1200" b="0">
                <a:solidFill>
                  <a:srgbClr val="5B6372"/>
                </a:solidFill>
                <a:latin typeface="Arial"/>
              </a:rPr>
              <a:t>Link every quantitative and material qualitative claim to evidence and review status.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Connected information</a:t>
            </a:r>
          </a:p>
          <a:p>
            <a:pPr algn="l">
              <a:spcAft>
                <a:spcPts val="300"/>
              </a:spcAft>
            </a:pPr>
            <a:r>
              <a:rPr sz="1200" b="0">
                <a:solidFill>
                  <a:srgbClr val="5B6372"/>
                </a:solidFill>
                <a:latin typeface="Arial"/>
              </a:rPr>
              <a:t>Keep governance, strategy, risks, metrics, targets and financial effects coherent.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Plain language</a:t>
            </a:r>
          </a:p>
          <a:p>
            <a:pPr algn="l">
              <a:spcAft>
                <a:spcPts val="300"/>
              </a:spcAft>
            </a:pPr>
            <a:r>
              <a:rPr sz="1200" b="0">
                <a:solidFill>
                  <a:srgbClr val="5B6372"/>
                </a:solidFill>
                <a:latin typeface="Arial"/>
              </a:rPr>
              <a:t>Prefer precise verbs, defined terms, short sentences and visible uncertainty.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Consistency controls</a:t>
            </a:r>
          </a:p>
          <a:p>
            <a:pPr algn="l">
              <a:spcAft>
                <a:spcPts val="300"/>
              </a:spcAft>
            </a:pPr>
            <a:r>
              <a:rPr sz="1200" b="0">
                <a:solidFill>
                  <a:srgbClr val="5B6372"/>
                </a:solidFill>
                <a:latin typeface="Arial"/>
              </a:rPr>
              <a:t>Lock names, periods, units, totals, targets, baselines and framework references.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Fact-check loop</a:t>
            </a:r>
          </a:p>
          <a:p>
            <a:pPr algn="l">
              <a:spcAft>
                <a:spcPts val="300"/>
              </a:spcAft>
            </a:pPr>
            <a:r>
              <a:rPr sz="1200" b="0">
                <a:solidFill>
                  <a:srgbClr val="5B6372"/>
                </a:solidFill>
                <a:latin typeface="Arial"/>
              </a:rPr>
              <a:t>Extract claims, verify sources and calculations, repair or remove unsupported wording.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Narrative Disclosures and Executive Summaries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disclosure narrative converts verified evidence into a balanced account of context, method, performance, actions and limitations. An executive summary selects only the most decision-relevant messages.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 is useful for structure and variation, but it tends to smooth over caveats and make ordinary changes sound strategic. A source-led outline prevents language quality from outrunning evidence quality.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Draft Narrative Disclosures and Executive Summaries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Create an evidence table and disclosure outline before asking for prose.</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Draft one section at a time with source IDs embedded in the working version.</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Require balanced treatment of positive, negative and uncertain information.</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Reduce the approved sections into an executive summary without adding new claims.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Draft Narrative Disclosures and Executive Summaries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energy section states boundary, method, absolute result, intensity result and limitation.</a:t>
            </a:r>
          </a:p>
          <a:p>
            <a:pPr>
              <a:spcAft>
                <a:spcPts val="1000"/>
              </a:spcAft>
            </a:pPr>
            <a:r>
              <a:rPr sz="1600" b="0">
                <a:solidFill>
                  <a:srgbClr val="161B26"/>
                </a:solidFill>
                <a:latin typeface="Arial"/>
              </a:rPr>
              <a:t>•  A decrease is described as observed; its cause remains unconfirmed pending operations evidence.</a:t>
            </a:r>
          </a:p>
          <a:p>
            <a:pPr>
              <a:spcAft>
                <a:spcPts val="1000"/>
              </a:spcAft>
            </a:pPr>
            <a:r>
              <a:rPr sz="1600" b="0">
                <a:solidFill>
                  <a:srgbClr val="161B26"/>
                </a:solidFill>
                <a:latin typeface="Arial"/>
              </a:rPr>
              <a:t>•  The executive summary reuses approved claims and includes one priority data gap.</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evidence table is complete enough to support the intended claims.</a:t>
            </a:r>
          </a:p>
          <a:p>
            <a:pPr>
              <a:spcAft>
                <a:spcPts val="1000"/>
              </a:spcAft>
            </a:pPr>
            <a:r>
              <a:rPr sz="1400" b="0">
                <a:solidFill>
                  <a:srgbClr val="5B6372"/>
                </a:solidFill>
                <a:latin typeface="Arial"/>
              </a:rPr>
              <a:t>–  A human editor owns materiality, balance and final wording.</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prompt asks for a complete report before framework mapping and data validation.</a:t>
            </a:r>
          </a:p>
          <a:p>
            <a:pPr>
              <a:spcAft>
                <a:spcPts val="1000"/>
              </a:spcAft>
            </a:pPr>
            <a:r>
              <a:rPr sz="1400" b="0">
                <a:solidFill>
                  <a:srgbClr val="5B6372"/>
                </a:solidFill>
                <a:latin typeface="Arial"/>
              </a:rPr>
              <a:t>–  Positive tone is used to remove adverse results, uncertainty or missed targets.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Draft Narrative Disclosures and Executive Summaries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narrative contains strategy claims that do not appear in source records.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Return to the evidence table and delete, qualify or source every unsupported claim.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executive summary contains no claim absent from approved disclosures.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Structure Reports and Sections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Report structure is the intentional hierarchy that connects reporting basis, governance, strategy, material topics, performance, targets, methods and reference indexes.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long generated table of contents can duplicate content or separate metrics from their methods. A requirements-to-section map makes structure serve coverage and reader navigation.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Structure Reports and Sections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List audiences, reporting basis, frameworks and applicable requirements.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Group disclosures by decision purpose and define one owner for each section.</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Map every requirement to a section, evidence set and review gate.</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Use AI to test navigation, duplication and missing connections, then decide manually.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Structure Reports and Sections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Governance and strategy appear once, with cross-references from material topic sections.</a:t>
            </a:r>
          </a:p>
          <a:p>
            <a:pPr>
              <a:spcAft>
                <a:spcPts val="1000"/>
              </a:spcAft>
            </a:pPr>
            <a:r>
              <a:rPr sz="1600" b="0">
                <a:solidFill>
                  <a:srgbClr val="161B26"/>
                </a:solidFill>
                <a:latin typeface="Arial"/>
              </a:rPr>
              <a:t>•  Metric tables include basis, boundary and methods immediately before the results.</a:t>
            </a:r>
          </a:p>
          <a:p>
            <a:pPr>
              <a:spcAft>
                <a:spcPts val="1000"/>
              </a:spcAft>
            </a:pPr>
            <a:r>
              <a:rPr sz="1600" b="0">
                <a:solidFill>
                  <a:srgbClr val="161B26"/>
                </a:solidFill>
                <a:latin typeface="Arial"/>
              </a:rPr>
              <a:t>•  The GRI content index and ISSB cross-reference table point to approved sections.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structure is driven by requirements and reader questions rather than generated headings.</a:t>
            </a:r>
          </a:p>
          <a:p>
            <a:pPr>
              <a:spcAft>
                <a:spcPts val="1000"/>
              </a:spcAft>
            </a:pPr>
            <a:r>
              <a:rPr sz="1400" b="0">
                <a:solidFill>
                  <a:srgbClr val="5B6372"/>
                </a:solidFill>
                <a:latin typeface="Arial"/>
              </a:rPr>
              <a:t>–  Cross-references can be maintained without duplicating inconsistent claims.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assistant invents a generic report architecture before applicability is established.</a:t>
            </a:r>
          </a:p>
          <a:p>
            <a:pPr>
              <a:spcAft>
                <a:spcPts val="1000"/>
              </a:spcAft>
            </a:pPr>
            <a:r>
              <a:rPr sz="1400" b="0">
                <a:solidFill>
                  <a:srgbClr val="5B6372"/>
                </a:solidFill>
                <a:latin typeface="Arial"/>
              </a:rPr>
              <a:t>–  The same target or metric is restated differently in several sections.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Structure Reports and Sections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requirement maps to multiple sections with different owners and values.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Assign a canonical source and one approved statement, then cross-reference it.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requirement, section, owner and evidence set has a single current status.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Ensure Consistency, Tone and Readability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Consistency control checks facts, terminology, units, periods, targets and narrative stance across the report. Readability makes complex information understandable without removing necessary precision.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Large reports are edited by many people. AI can detect differences, but it can also standardise away important distinctions or introduce a preferred term that changes a defined meaning.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Ensure Consistency, Tone and Readability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Create a style sheet for names, acronyms, units, tense, dates and approved terminology.</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Extract repeated facts and compare them against the canonical data table.</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Rewrite for sentence length, active voice and defined technical terms without changing meaning.</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Run a final contradiction and cross-reference review after layout changes.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Ensure Consistency, Tone and Readability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style sheet specifies tCO2e, FY2025 and 'HarbourLight Foods Pte Ltd'.</a:t>
            </a:r>
          </a:p>
          <a:p>
            <a:pPr>
              <a:spcAft>
                <a:spcPts val="1000"/>
              </a:spcAft>
            </a:pPr>
            <a:r>
              <a:rPr sz="1600" b="0">
                <a:solidFill>
                  <a:srgbClr val="161B26"/>
                </a:solidFill>
                <a:latin typeface="Arial"/>
              </a:rPr>
              <a:t>•  A consistency check finds 212.16 tCO2e in the table but 221 tCO2e in the summary.</a:t>
            </a:r>
          </a:p>
          <a:p>
            <a:pPr>
              <a:spcAft>
                <a:spcPts val="1000"/>
              </a:spcAft>
            </a:pPr>
            <a:r>
              <a:rPr sz="1600" b="0">
                <a:solidFill>
                  <a:srgbClr val="161B26"/>
                </a:solidFill>
                <a:latin typeface="Arial"/>
              </a:rPr>
              <a:t>•  The editor corrects the summary from the approved calculation, not from the AI suggestion.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Canonical facts and terminology are available for comparison.</a:t>
            </a:r>
          </a:p>
          <a:p>
            <a:pPr>
              <a:spcAft>
                <a:spcPts val="1000"/>
              </a:spcAft>
            </a:pPr>
            <a:r>
              <a:rPr sz="1400" b="0">
                <a:solidFill>
                  <a:srgbClr val="5B6372"/>
                </a:solidFill>
                <a:latin typeface="Arial"/>
              </a:rPr>
              <a:t>–  The editor can compare original and revised meaning line by line.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'make this stronger' prompt encourages promotional or absolute claims.</a:t>
            </a:r>
          </a:p>
          <a:p>
            <a:pPr>
              <a:spcAft>
                <a:spcPts val="1000"/>
              </a:spcAft>
            </a:pPr>
            <a:r>
              <a:rPr sz="1400" b="0">
                <a:solidFill>
                  <a:srgbClr val="5B6372"/>
                </a:solidFill>
                <a:latin typeface="Arial"/>
              </a:rPr>
              <a:t>–  Readability edits remove boundaries, assumptions or material caveats.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Ensure Consistency, Tone and Readability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same metric appears with different values, units or periods.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Link every repetition to a canonical source and rerun contradiction checks.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All repeated facts reconcile and the plain-language version preserves limitations.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Fact-Check and Validate AI Output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Validation decomposes AI output into checkable claims and tests each one against source evidence, calculations, current official requirements and the intended reporting boundary.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AI response may contain confabulated facts, inaccurate citations, outdated requirements or unjustified causation. Reviewing overall plausibility is not enough.</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Fact-Check and Validate AI Output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Extract quantitative, qualitative, framework, comparative and causal claims into a ledger.</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Verify each claim against the original source, calculation or current official requirement.</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Mark supported, revise, remove, unresolved or not applicable and record the reviewer.</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Run targeted checks for totals, units, dates, names, targets, citations and causal language.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Fact-Check and Validate AI Output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Claim C-014 states emissions fell because of equipment upgrades.</a:t>
            </a:r>
          </a:p>
          <a:p>
            <a:pPr>
              <a:spcAft>
                <a:spcPts val="1000"/>
              </a:spcAft>
            </a:pPr>
            <a:r>
              <a:rPr sz="1600" b="0">
                <a:solidFill>
                  <a:srgbClr val="161B26"/>
                </a:solidFill>
                <a:latin typeface="Arial"/>
              </a:rPr>
              <a:t>•  The dataset confirms the fall, but no source record confirms the cause.</a:t>
            </a:r>
          </a:p>
          <a:p>
            <a:pPr>
              <a:spcAft>
                <a:spcPts val="1000"/>
              </a:spcAft>
            </a:pPr>
            <a:r>
              <a:rPr sz="1600" b="0">
                <a:solidFill>
                  <a:srgbClr val="161B26"/>
                </a:solidFill>
                <a:latin typeface="Arial"/>
              </a:rPr>
              <a:t>•  The reviewer changes the wording to an observation and logs the cause as unresolved.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output can be decomposed into claims and relevant evidence is accessible.</a:t>
            </a:r>
          </a:p>
          <a:p>
            <a:pPr>
              <a:spcAft>
                <a:spcPts val="1000"/>
              </a:spcAft>
            </a:pPr>
            <a:r>
              <a:rPr sz="1400" b="0">
                <a:solidFill>
                  <a:srgbClr val="5B6372"/>
                </a:solidFill>
                <a:latin typeface="Arial"/>
              </a:rPr>
              <a:t>–  A separate reviewer can challenge high-impact or high-uncertainty items.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same model is treated as the sole judge of its own accuracy.</a:t>
            </a:r>
          </a:p>
          <a:p>
            <a:pPr>
              <a:spcAft>
                <a:spcPts val="1000"/>
              </a:spcAft>
            </a:pPr>
            <a:r>
              <a:rPr sz="1400" b="0">
                <a:solidFill>
                  <a:srgbClr val="5B6372"/>
                </a:solidFill>
                <a:latin typeface="Arial"/>
              </a:rPr>
              <a:t>–  A citation is accepted because its title looks credible without opening the source.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Fact-Check and Validate AI Output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review says 'looks accurate' without claim-level status.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claim ledger and prioritise quantitative, compliance and causal claims.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retained material claim has a source, reviewer, status and resolution.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AI for Drafting and Structuring Reports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Draft and Validate an Evidence-Grounded Disclosure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Validate an Evidence-Grounded Disclosure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 · 60 MIN</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combine the approved reporting basis, emissions workpaper, materiality-gap analysis and a deliberately flawed prior-year disclosure into a controlled FY2025 draft. You will use AI for bounded drafting and critique, then verify every quantitative, causal, framework and target claim.</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 style-sheet.md, disclosure-draft.md, claim-ledger.csv and executive-summary.md with source-linked claims, consistent units, balanced wording, unresolved limitations and recorded human decisions.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Outline from evidence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Draft with source tags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Build the claim ledger</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Validate and summarise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Text editor · spreadsheet · approved AI assistant · disclosure-starters · prior-year-disclosure.md · Lab 4–5 outputs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60 MIN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Validate an Evidence-Grounded Disclosure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98480" cy="4251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93392"/>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651760"/>
            <a:ext cx="10058400" cy="2971800"/>
          </a:xfrm>
          <a:prstGeom prst="rect">
            <a:avLst/>
          </a:prstGeom>
          <a:noFill/>
        </p:spPr>
        <p:txBody>
          <a:bodyPr wrap="square" anchor="t">
            <a:spAutoFit/>
          </a:bodyPr>
          <a:lstStyle/>
          <a:p>
            <a:pPr algn="l">
              <a:spcAft>
                <a:spcPts val="400"/>
              </a:spcAft>
            </a:pPr>
            <a:r>
              <a:rPr sz="1400" b="0">
                <a:solidFill>
                  <a:srgbClr val="161B26"/>
                </a:solidFill>
                <a:latin typeface="Arial"/>
              </a:rPr>
              <a:t>The final disclosure must be 300–400 words and the executive summary 100–130 words. Both must match the canonical FY2025 Scope 1, Scope 2, total and intensity values from Lab 4. Every retained material claim must have a SUPPORTED or resolved REVISE row in claim-ledger.csv. No UNRESOLVED claim may appear as fact, no unsupported cause or target may remain, and the consistency log must contain no open quantitative conflict. prompt-log.csv must contain completed P-006 review fields and every retained change must be visible in the claim ledger.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AI for Drafting and Structuring Reports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LO3: draft readable sustainability disclosures and validate every material claim</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 for Compliance, Frameworks and Continuous Reporting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Framework crosswalks · current applicability · assurance readiness · governance · recurring and multi-year workflows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Day 2 afternoon · 2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 for Compliance, Frameworks and Continuous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Applicability register</a:t>
            </a:r>
          </a:p>
          <a:p>
            <a:pPr algn="l">
              <a:spcAft>
                <a:spcPts val="300"/>
              </a:spcAft>
            </a:pPr>
            <a:r>
              <a:rPr sz="1200" b="0">
                <a:solidFill>
                  <a:srgbClr val="5B6372"/>
                </a:solidFill>
                <a:latin typeface="Arial"/>
              </a:rPr>
              <a:t>Record entity scope, jurisdiction, framework basis, effective date and source owner.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Requirement crosswalk</a:t>
            </a:r>
          </a:p>
          <a:p>
            <a:pPr algn="l">
              <a:spcAft>
                <a:spcPts val="300"/>
              </a:spcAft>
            </a:pPr>
            <a:r>
              <a:rPr sz="1200" b="0">
                <a:solidFill>
                  <a:srgbClr val="5B6372"/>
                </a:solidFill>
                <a:latin typeface="Arial"/>
              </a:rPr>
              <a:t>Map identifiers to report sections, evidence, owner and status without claiming more than supported.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Audit trail</a:t>
            </a:r>
          </a:p>
          <a:p>
            <a:pPr algn="l">
              <a:spcAft>
                <a:spcPts val="300"/>
              </a:spcAft>
            </a:pPr>
            <a:r>
              <a:rPr sz="1200" b="0">
                <a:solidFill>
                  <a:srgbClr val="5B6372"/>
                </a:solidFill>
                <a:latin typeface="Arial"/>
              </a:rPr>
              <a:t>Retain source, transformation, calculation, prompt, review and approval lineage.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Segregation of duties</a:t>
            </a:r>
          </a:p>
          <a:p>
            <a:pPr algn="l">
              <a:spcAft>
                <a:spcPts val="300"/>
              </a:spcAft>
            </a:pPr>
            <a:r>
              <a:rPr sz="1200" b="0">
                <a:solidFill>
                  <a:srgbClr val="5B6372"/>
                </a:solidFill>
                <a:latin typeface="Arial"/>
              </a:rPr>
              <a:t>Separate preparer, reviewer and approver for material claims and calculations.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Change control</a:t>
            </a:r>
          </a:p>
          <a:p>
            <a:pPr algn="l">
              <a:spcAft>
                <a:spcPts val="300"/>
              </a:spcAft>
            </a:pPr>
            <a:r>
              <a:rPr sz="1200" b="0">
                <a:solidFill>
                  <a:srgbClr val="5B6372"/>
                </a:solidFill>
                <a:latin typeface="Arial"/>
              </a:rPr>
              <a:t>Detect changes in data, factors, methods, requirements and approved narrative.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Recurring workflow</a:t>
            </a:r>
          </a:p>
          <a:p>
            <a:pPr algn="l">
              <a:spcAft>
                <a:spcPts val="300"/>
              </a:spcAft>
            </a:pPr>
            <a:r>
              <a:rPr sz="1200" b="0">
                <a:solidFill>
                  <a:srgbClr val="5B6372"/>
                </a:solidFill>
                <a:latin typeface="Arial"/>
              </a:rPr>
              <a:t>Use a calendar, data contracts, controlled templates, quality gates and post-cycle improvement.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Map Content to GRI, SASB, TCFD and ISSB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framework crosswalk records each requirement or guidance item, why it applies, where it is addressed, which evidence supports it and what status remains.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 can accelerate comparisons, but keyword similarity is not compliance. Definitions, materiality, industry, effective dates and jurisdiction determine whether a mapping is valid.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Map Content to GRI, SASB, TCFD and ISSB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Create a current register from official sources with identifiers, dates and applicability notes.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Map report claims and sections to requirements using exact evidence references.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Classify status as complete, partial, missing, not applicable or pending interpretation.</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Have the responsible owner review mappings and avoid unsupported statements of conformity.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Map Content to GRI, SASB, TCFD and ISSB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GRI 3 supports the documented process for determining impact material topics.</a:t>
            </a:r>
          </a:p>
          <a:p>
            <a:pPr>
              <a:spcAft>
                <a:spcPts val="1000"/>
              </a:spcAft>
            </a:pPr>
            <a:r>
              <a:rPr sz="1600" b="0">
                <a:solidFill>
                  <a:srgbClr val="161B26"/>
                </a:solidFill>
                <a:latin typeface="Arial"/>
              </a:rPr>
              <a:t>•  IFRS S1 and S2 use governance, strategy, risk management, and metrics-and-targets content areas.</a:t>
            </a:r>
          </a:p>
          <a:p>
            <a:pPr>
              <a:spcAft>
                <a:spcPts val="1000"/>
              </a:spcAft>
            </a:pPr>
            <a:r>
              <a:rPr sz="1600" b="0">
                <a:solidFill>
                  <a:srgbClr val="161B26"/>
                </a:solidFill>
                <a:latin typeface="Arial"/>
              </a:rPr>
              <a:t>•  A SASB food-industry topic adds industry detail; TCFD is recorded as a legacy bridge incorporated into IFRS S2.</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Official sources, applicability decisions and requirement IDs are recorded.</a:t>
            </a:r>
          </a:p>
          <a:p>
            <a:pPr>
              <a:spcAft>
                <a:spcPts val="1000"/>
              </a:spcAft>
            </a:pPr>
            <a:r>
              <a:rPr sz="1400" b="0">
                <a:solidFill>
                  <a:srgbClr val="5B6372"/>
                </a:solidFill>
                <a:latin typeface="Arial"/>
              </a:rPr>
              <a:t>–  The crosswalk is a working control with owners and evidence statuses.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generated checklist substitutes for reading the applicable standard or rule.</a:t>
            </a:r>
          </a:p>
          <a:p>
            <a:pPr>
              <a:spcAft>
                <a:spcPts val="1000"/>
              </a:spcAft>
            </a:pPr>
            <a:r>
              <a:rPr sz="1400" b="0">
                <a:solidFill>
                  <a:srgbClr val="5B6372"/>
                </a:solidFill>
                <a:latin typeface="Arial"/>
              </a:rPr>
              <a:t>–  The report claims alignment or conformity when required items remain partial or missing.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Map Content to GRI, SASB, TCFD and ISSB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Mappings contain page numbers but no evidence or applicability rationale.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requirement ID, lens, official source, owner, evidence and status.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reviewer can trace each mapping and see unresolved items immediately.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Assurance-Ready Audit Trails and Governance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Assurance readiness means evidence, methods, controls, roles and changes are documented so an independent reviewer can understand how a reported statement was produced.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 introduces another transformation layer. Without logs, version control and approval records, a team may be unable to reproduce a calculation or explain why generated wording was accepted.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Build Assurance-Ready Audit Trails and Governance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Assign preparer, reviewer, approver and requirement owners with clear handoffs.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Retain immutable sources, calculation workpapers, prompt logs, claim ledgers and approvals.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Apply access control, version naming, change reasons and exception management.</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Test high-risk samples for completeness, accuracy, occurrence, consistency and cut-off.</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Build Assurance-Ready Audit Trails and Governance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Metric M-008 links to invoices, factor EF-03, calculation CALC-02 and reviewer sign-off REV-17.</a:t>
            </a:r>
          </a:p>
          <a:p>
            <a:pPr>
              <a:spcAft>
                <a:spcPts val="1000"/>
              </a:spcAft>
            </a:pPr>
            <a:r>
              <a:rPr sz="1600" b="0">
                <a:solidFill>
                  <a:srgbClr val="161B26"/>
                </a:solidFill>
                <a:latin typeface="Arial"/>
              </a:rPr>
              <a:t>•  Draft D-04 links each retained sentence to claim-ledger rows and an approval record.</a:t>
            </a:r>
          </a:p>
          <a:p>
            <a:pPr>
              <a:spcAft>
                <a:spcPts val="1000"/>
              </a:spcAft>
            </a:pPr>
            <a:r>
              <a:rPr sz="1600" b="0">
                <a:solidFill>
                  <a:srgbClr val="161B26"/>
                </a:solidFill>
                <a:latin typeface="Arial"/>
              </a:rPr>
              <a:t>•  A changed factor triggers recalculation, narrative review and a documented restatement decision.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Material metrics and claims need reproducible lineage and independent review.</a:t>
            </a:r>
          </a:p>
          <a:p>
            <a:pPr>
              <a:spcAft>
                <a:spcPts val="1000"/>
              </a:spcAft>
            </a:pPr>
            <a:r>
              <a:rPr sz="1400" b="0">
                <a:solidFill>
                  <a:srgbClr val="5B6372"/>
                </a:solidFill>
                <a:latin typeface="Arial"/>
              </a:rPr>
              <a:t>–  The team wants to reduce late-cycle evidence requests and rework.</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AI logs contain restricted source data that should not be retained in that system.</a:t>
            </a:r>
          </a:p>
          <a:p>
            <a:pPr>
              <a:spcAft>
                <a:spcPts val="1000"/>
              </a:spcAft>
            </a:pPr>
            <a:r>
              <a:rPr sz="1400" b="0">
                <a:solidFill>
                  <a:srgbClr val="5B6372"/>
                </a:solidFill>
                <a:latin typeface="Arial"/>
              </a:rPr>
              <a:t>–  Approval is implied by silence or performed by the same person for every high-risk item.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Build Assurance-Ready Audit Trails and Governance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final report exists but its working papers cannot reproduce key figures.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Reconstruct lineage from source through calculation, draft, review and approval.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reviewer can select a claim and follow its complete evidence chain.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Automate Recurring and Multi-Year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Recurring reporting uses controlled templates, data contracts, calendars and exception workflows to repeat stable tasks while preserving human review for material judgement and change.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Copying last year's report carries forward stale claims and methods. Uncontrolled automation can reproduce errors faster and conceal changes in boundaries, factors or requirements.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Automate Recurring and Multi-Year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Separate repeatable data transformations from judgement-intensive reporting decisions.</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Define input owners, due dates, schemas, validations, approvals and escalation rules.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Compare current and prior periods for boundary, factor, method, target and requirement changes.</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Generate drafts only after data gates pass, then preserve review and publication controls.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Automate Recurring and Multi-Year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Monthly source files load into a locked schema with duplicate and range checks.</a:t>
            </a:r>
          </a:p>
          <a:p>
            <a:pPr>
              <a:spcAft>
                <a:spcPts val="1000"/>
              </a:spcAft>
            </a:pPr>
            <a:r>
              <a:rPr sz="1600" b="0">
                <a:solidFill>
                  <a:srgbClr val="161B26"/>
                </a:solidFill>
                <a:latin typeface="Arial"/>
              </a:rPr>
              <a:t>•  The annual close flags new sites, factor changes and restatement triggers before trend calculations.</a:t>
            </a:r>
          </a:p>
          <a:p>
            <a:pPr>
              <a:spcAft>
                <a:spcPts val="1000"/>
              </a:spcAft>
            </a:pPr>
            <a:r>
              <a:rPr sz="1600" b="0">
                <a:solidFill>
                  <a:srgbClr val="161B26"/>
                </a:solidFill>
                <a:latin typeface="Arial"/>
              </a:rPr>
              <a:t>•  AI drafts variance commentary from approved data, while owners verify explanations and actions.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Inputs are standardised, controls are testable and exceptions have named owners.</a:t>
            </a:r>
          </a:p>
          <a:p>
            <a:pPr>
              <a:spcAft>
                <a:spcPts val="1000"/>
              </a:spcAft>
            </a:pPr>
            <a:r>
              <a:rPr sz="1400" b="0">
                <a:solidFill>
                  <a:srgbClr val="5B6372"/>
                </a:solidFill>
                <a:latin typeface="Arial"/>
              </a:rPr>
              <a:t>–  The process keeps human approval for materiality, estimates, causal claims and publication.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workflow republishes prior narrative without current evidence.</a:t>
            </a:r>
          </a:p>
          <a:p>
            <a:pPr>
              <a:spcAft>
                <a:spcPts val="1000"/>
              </a:spcAft>
            </a:pPr>
            <a:r>
              <a:rPr sz="1400" b="0">
                <a:solidFill>
                  <a:srgbClr val="5B6372"/>
                </a:solidFill>
                <a:latin typeface="Arial"/>
              </a:rPr>
              <a:t>–  Automation is introduced before definitions, ownership and quality gates are stable.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Automate Recurring and Multi-Year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process is fast but no one owns rejected records or changed requirements.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exception queues, owners, service levels and change-control gates.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cycle is repeatable, exceptions are visible and all published changes are approved.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an Efficient Sustainability Reporting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efficient workflow sequences scoping, evidence intake, calculation, materiality, drafting, framework mapping, review, approval and publication so defects are caught near their source.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Late reconciliation is expensive. Efficiency comes from clear entry criteria and controls, not from generating more text earlier in the cycle.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Build an Efficient Sustainability Reporting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Plan the reporting basis, applicability, roles, calendar and source inventory.</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Validate data and calculations before narrative work begins.</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Use AI in bounded stages with prompt logs, claim ledgers and reviewer gates.</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Close with cross-report reconciliation, approvals, publication archive and lessons learned.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Build an Efficient Sustainability Reporting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HarbourLight's eight-stage board assigns one owner, entry gate and output to each stage.</a:t>
            </a:r>
          </a:p>
          <a:p>
            <a:pPr>
              <a:spcAft>
                <a:spcPts val="1000"/>
              </a:spcAft>
            </a:pPr>
            <a:r>
              <a:rPr sz="1600" b="0">
                <a:solidFill>
                  <a:srgbClr val="161B26"/>
                </a:solidFill>
                <a:latin typeface="Arial"/>
              </a:rPr>
              <a:t>•  A missing energy invoice blocks the metric and narrative but not unrelated governance sections.</a:t>
            </a:r>
          </a:p>
          <a:p>
            <a:pPr>
              <a:spcAft>
                <a:spcPts val="1000"/>
              </a:spcAft>
            </a:pPr>
            <a:r>
              <a:rPr sz="1600" b="0">
                <a:solidFill>
                  <a:srgbClr val="161B26"/>
                </a:solidFill>
                <a:latin typeface="Arial"/>
              </a:rPr>
              <a:t>•  The post-cycle review converts recurring defects into next-year data-contract improvements.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team needs an end-to-end operating model and clear handoffs.</a:t>
            </a:r>
          </a:p>
          <a:p>
            <a:pPr>
              <a:spcAft>
                <a:spcPts val="1000"/>
              </a:spcAft>
            </a:pPr>
            <a:r>
              <a:rPr sz="1400" b="0">
                <a:solidFill>
                  <a:srgbClr val="5B6372"/>
                </a:solidFill>
                <a:latin typeface="Arial"/>
              </a:rPr>
              <a:t>–  Management wants transparent status, exceptions and evidence readiness.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single AI prompt is expected to perform data validation, materiality, drafting and sign-off.</a:t>
            </a:r>
          </a:p>
          <a:p>
            <a:pPr>
              <a:spcAft>
                <a:spcPts val="1000"/>
              </a:spcAft>
            </a:pPr>
            <a:r>
              <a:rPr sz="1400" b="0">
                <a:solidFill>
                  <a:srgbClr val="5B6372"/>
                </a:solidFill>
                <a:latin typeface="Arial"/>
              </a:rPr>
              <a:t>–  Speed is measured only by draft completion rather than rework, evidence gaps and review findings.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04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Build an Efficient Sustainability Reporting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Drafting begins while scope, data owners or framework basis remain undecided.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Introduce entry gates and stop affected work until foundational decisions are recorded.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stage has an owner, input, control, output, status and escalation path.</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AI for Compliance, Frameworks and Continuous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Framework Crosswalk and Assurance Evidence Index</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the Recurring Reporting Workflow and Final Pack</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Framework Crosswalk and Assurance Evidence Index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 · 55 MIN</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extend the framework register into a requirement crosswalk, map the Lab 6 disclosure and Lab 4 metrics, and build an evidence index from source through calculation, claim and approval. You will also record current Singapore applicability questions for responsible-owner confirmation.</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framework-crosswalk.csv, assurance-evidence-index.csv and control-matrix.csv with requirement IDs, report locations, evidence lineage, owners, statuses, exceptions and reviewer sign-off.</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Confirm applicability</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Map requirements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Index evidence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Test the lineage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browser · approved AI assistant · Lab 2 register · Lab 4 workpaper · Lab 6 claim ledger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55 MIN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Framework Crosswalk and Assurance Evidence Index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98480" cy="4251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93392"/>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651760"/>
            <a:ext cx="10058400" cy="2971800"/>
          </a:xfrm>
          <a:prstGeom prst="rect">
            <a:avLst/>
          </a:prstGeom>
          <a:noFill/>
        </p:spPr>
        <p:txBody>
          <a:bodyPr wrap="square" anchor="t">
            <a:spAutoFit/>
          </a:bodyPr>
          <a:lstStyle/>
          <a:p>
            <a:pPr algn="l">
              <a:spcAft>
                <a:spcPts val="400"/>
              </a:spcAft>
            </a:pPr>
            <a:r>
              <a:rPr sz="1400" b="0">
                <a:solidFill>
                  <a:srgbClr val="161B26"/>
                </a:solidFill>
                <a:latin typeface="Arial"/>
              </a:rPr>
              <a:t>Every ACTIVE crosswalk row must contain an official source, requirement or guidance ID, lens, applicability status, report location, evidence status and owner; every REFERENCE row must retain its current official URL and checked or PENDING CHECK status. No synthetic jurisdiction decision may be stated as confirmed. The evidence index must contain complete reproducible chains for the four metrics and factor limitation. CTL-01–CTL-07 must have preparer, reviewer, evidence and status, with no unowned FAIL or OPEN item. prompt-log.csv must contain completed P-007 review fields.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the Recurring Reporting Workflow and Final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 · 55 MIN</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design a reporting calendar and workflow board that reuses controlled structures without copying stale claims. You will specify source-owner data contracts, AI task boundaries, review gates, change triggers and a final pack index that lets another preparer continue the process.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A reporting-calendar.csv, workflow-board.csv, data-contracts.md, final-pack-index.md and post-cycle-review.md covering the complete scope-to-publication cycle and its evidence-controlled AI tasks.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Define the cycle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Set data contracts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Place quality gates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Package and improve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Spreadsheet · text editor · approved AI assistant · all Lab 1–7 artifacts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55 MIN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the Recurring Reporting Workflow and Final Pack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98480" cy="4251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993392"/>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651760"/>
            <a:ext cx="10058400" cy="2971800"/>
          </a:xfrm>
          <a:prstGeom prst="rect">
            <a:avLst/>
          </a:prstGeom>
          <a:noFill/>
        </p:spPr>
        <p:txBody>
          <a:bodyPr wrap="square" anchor="t">
            <a:spAutoFit/>
          </a:bodyPr>
          <a:lstStyle/>
          <a:p>
            <a:pPr algn="l">
              <a:spcAft>
                <a:spcPts val="400"/>
              </a:spcAft>
            </a:pPr>
            <a:r>
              <a:rPr sz="1300" b="0">
                <a:solidFill>
                  <a:srgbClr val="161B26"/>
                </a:solidFill>
                <a:latin typeface="Arial"/>
              </a:rPr>
              <a:t>The calendar must contain all ten phases with owner, reviewer, entry criteria, output and escalation. data-contracts.md must cover all five evidence classes and versioned corrections. The workflow board must contain at least twelve tasks, allowed AI roles only, named human decisions and reopen triggers. The final pack must index every Lab 1–8 artifact, identify open items and give a reproducible Start Here path. The post-cycle review must define all five metrics with the rate numerator/denominator or count/duration Unit_or_Basis, owner and trigger. prompt-log.csv must contain P-008, and final-pack-index.md must be updated after the post-cycle review so every Lab 1–8 artifact is indexed.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AI for Compliance, Frameworks and Continuous Reporting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map approved content to current framework sources and maintain an assurance-ready audit trail</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design a governed recurring workflow for multi-year sustainability reporting</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Ground &amp; Govern</a:t>
            </a:r>
          </a:p>
          <a:p>
            <a:pPr algn="l">
              <a:spcAft>
                <a:spcPts val="300"/>
              </a:spcAft>
            </a:pPr>
            <a:r>
              <a:rPr sz="1300" b="0">
                <a:solidFill>
                  <a:srgbClr val="5B6372"/>
                </a:solidFill>
                <a:latin typeface="Arial"/>
              </a:rPr>
              <a:t>Establish a responsible, evidence-controlled generative AI workflow and distinguish the purposes of GRI, SASB, TCFD and ISSB reporting guidance.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Structure &amp; Analyse</a:t>
            </a:r>
          </a:p>
          <a:p>
            <a:pPr algn="l">
              <a:spcAft>
                <a:spcPts val="300"/>
              </a:spcAft>
            </a:pPr>
            <a:r>
              <a:rPr sz="1300" b="0">
                <a:solidFill>
                  <a:srgbClr val="5B6372"/>
                </a:solidFill>
                <a:latin typeface="Arial"/>
              </a:rPr>
              <a:t>Structure ESG source data, calculate and interpret selected emissions and intensity metrics, and perform transparent materiality and gap analysis.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Draft &amp; Validate</a:t>
            </a:r>
          </a:p>
          <a:p>
            <a:pPr algn="l">
              <a:spcAft>
                <a:spcPts val="300"/>
              </a:spcAft>
            </a:pPr>
            <a:r>
              <a:rPr sz="1300" b="0">
                <a:solidFill>
                  <a:srgbClr val="5B6372"/>
                </a:solidFill>
                <a:latin typeface="Arial"/>
              </a:rPr>
              <a:t>Draft readable, evidence-grounded sustainability disclosures and executive summaries, then validate claims, consistency and limitations.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Map &amp; Operationalise</a:t>
            </a:r>
          </a:p>
          <a:p>
            <a:pPr algn="l">
              <a:spcAft>
                <a:spcPts val="300"/>
              </a:spcAft>
            </a:pPr>
            <a:r>
              <a:rPr sz="1300" b="0">
                <a:solidFill>
                  <a:srgbClr val="5B6372"/>
                </a:solidFill>
                <a:latin typeface="Arial"/>
              </a:rPr>
              <a:t>Map report content to applicable frameworks, maintain an assurance-ready audit trail, and design a governed recurring reporting workflow.</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 Practical 30-Day Application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Week 1 — confirm scope, owners, approved tools and source inventory.</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Week 2 — pilot one data-to-metric workpaper with complete lineage.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Week 3 — draft one disclosure and close every high-risk claim-ledger item.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Week 4 — review the workflow, exceptions, rework and next-cycle controls.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your downloaded C1311 course files and use the lab checkpoints to restart safely.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C1311 · KEEP THE EVIDENCE VISIBLE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an evidence-controlled workflow for collecting, analysing, drafting, mapping and reviewing sustainability information with accountable human oversight.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Sustainability Reporting  ·  C1311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